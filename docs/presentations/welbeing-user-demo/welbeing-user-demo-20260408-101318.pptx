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5F31-B790-9EA3-DC6D-CA59CF66A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FEF26-72DD-DDEE-AE77-F1CBBA975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A2CF0-02BE-117D-029E-123308D4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50C1A-6081-77D6-6526-99B59230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729CE-A80F-8E23-CC92-6765DB3E3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8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FB59-0FDD-A6F1-9F31-C35FEA87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FF3C9-C45B-784D-27B5-C4C578B8B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C2051-5F41-622E-3465-0BFA57599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F914-A6AA-23A2-0065-674645C7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6C3D3-970B-A9F7-37C0-83935C76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7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2F87-85EC-EFC3-B106-B0F86BF6C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73FE8-16C8-D22A-DCC6-E8882DD85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69E91-7430-B485-2D16-5B8D63E5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04BFE-F19E-F4A0-7564-8D27B20B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840FC-05B4-6995-3751-5C264D557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06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0A9D-08A2-EFEA-0A76-B2621495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67B0E-C505-6E1B-6951-23C0A4A45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BE06C-CDDD-AC03-3A77-5197D9559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4CC5C-C4BE-3536-43FD-FDF183FA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EF21F-C914-C8B4-D7A7-6C2B2FD3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82756-9241-03E8-E0C0-1295CC99D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8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4340-345E-3573-8821-EFD7CA545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29A04-6730-EDEF-F35B-8FB62B41E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6ECD4-2764-702C-372B-08C1E60CE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84261-9C74-D438-EE92-50D7190C4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5E227B-DA98-E209-3796-EAE0D471A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94A59-B0AF-BC0C-FBB0-A8FBB231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4EAA6C-E472-CA54-815A-EF78C5943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90CF4-687F-DA05-8D85-6361766C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5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894E-38AA-40E2-8795-6BDF8DC0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26C48-C164-8E37-2263-F0A1E1A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2AD2A1-9FC2-A58E-80A8-597AC891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8852B-7B78-755E-D5CF-7FA3AF0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4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057A0-9CE1-9B87-381D-16E75AC0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38A12-673A-B473-7E33-CC30FDD4D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78027-59E4-CA3D-A6AC-AFD9BA1F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3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B489-C9FA-798A-1FEA-ED055B76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6486-55FC-D24A-C107-36ADBC4C7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DE8D8-8A9D-C225-D4D5-17CCB1D66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62E78-B13B-7247-7978-03F80B93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11759-487C-8E63-3039-35AA8FE6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4868C-01EC-C180-8653-5D28EE079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4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272E-276E-C39C-432E-72D6192FD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6730B-DF63-BB8B-4638-373B8D1DF0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CEFAF-1CFC-0D5B-F58E-17EC2060A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44FA6-6D2E-D502-D7F7-DF33E446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AF752-5089-8F07-999B-DC399FBD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5013A-4F69-AFDA-0E06-525C3636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1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2537-94DA-11B6-0BCA-763543FD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15310-34B4-A79D-B2CF-1A0F08DC6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215C2-A4A4-1240-90FB-AD99C986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E6DF2-DA82-AAB5-364E-8FF8DAB1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41470-209D-84AB-98BF-D3612A52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40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4DD396-B956-D193-EBD3-8068445584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3CEB1-0DF2-3A25-E56B-26B973C9E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70971-0984-0E96-1E31-FC31E21C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8591C-8BA5-8EE2-ABCE-B619C463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0116-0822-BC7C-C985-C06BCE9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42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F446C-4746-B905-1479-B4BF6495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87B15-B6C8-C3C0-50A8-D2D133647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C3745-7CCE-7A27-4C09-8025D6072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A661-9514-4E4C-9DAF-5CF6BB64A72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2F619-150B-3D70-9A13-8D9C89AE0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AA035-E024-28CE-431A-1F4747386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1B867-8839-406B-9C94-37D450384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3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4F9B98-8476-CE41-9C38-BEEC1882F3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A"/>
          </a:solidFill>
          <a:ln w="12700" cap="flat" cmpd="sng" algn="ctr">
            <a:solidFill>
              <a:srgbClr val="F6F1E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F663AB-A9B7-1AFE-7675-32317D746DAA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rgbClr val="DED5C9">
              <a:alpha val="90000"/>
            </a:srgbClr>
          </a:solidFill>
          <a:ln w="12700" cap="flat" cmpd="sng" algn="ctr">
            <a:solidFill>
              <a:srgbClr val="DED5C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F03C41-3D3A-E450-1C5C-C48FCCD47365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FCF8F3"/>
          </a:solidFill>
          <a:ln w="12700" cap="flat" cmpd="sng" algn="ctr">
            <a:solidFill>
              <a:srgbClr val="FCF8F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48FD9-DF56-CCC2-34CC-7DDAE850A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956" y="1031282"/>
            <a:ext cx="602089" cy="4012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5C756D-FC4B-E2D5-BB01-C9594429948F}"/>
              </a:ext>
            </a:extLst>
          </p:cNvPr>
          <p:cNvSpPr/>
          <p:nvPr/>
        </p:nvSpPr>
        <p:spPr>
          <a:xfrm>
            <a:off x="8915400" y="482600"/>
            <a:ext cx="2489200" cy="1498600"/>
          </a:xfrm>
          <a:prstGeom prst="rect">
            <a:avLst/>
          </a:prstGeom>
          <a:solidFill>
            <a:srgbClr val="1C1D21">
              <a:alpha val="58000"/>
            </a:srgbClr>
          </a:solidFill>
          <a:ln w="1016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4DCDBE-94B0-4C7A-91FC-9A4DDE0FC007}"/>
              </a:ext>
            </a:extLst>
          </p:cNvPr>
          <p:cNvCxnSpPr/>
          <p:nvPr/>
        </p:nvCxnSpPr>
        <p:spPr>
          <a:xfrm>
            <a:off x="736600" y="736600"/>
            <a:ext cx="16256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01E971-AF43-1C43-368D-302AD600E5BC}"/>
              </a:ext>
            </a:extLst>
          </p:cNvPr>
          <p:cNvSpPr txBox="1"/>
          <p:nvPr/>
        </p:nvSpPr>
        <p:spPr>
          <a:xfrm>
            <a:off x="7366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PLATFORM WELLBEING BERBASIS GAMIFIKASI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9A76D-CC2B-0CC0-17DC-8A7D934FC723}"/>
              </a:ext>
            </a:extLst>
          </p:cNvPr>
          <p:cNvSpPr txBox="1"/>
          <p:nvPr/>
        </p:nvSpPr>
        <p:spPr>
          <a:xfrm>
            <a:off x="736600" y="1727200"/>
            <a:ext cx="3302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4000" b="1">
                <a:solidFill>
                  <a:srgbClr val="1C1D21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6CF85-90B8-9A6F-6239-59A47F83DEB8}"/>
              </a:ext>
            </a:extLst>
          </p:cNvPr>
          <p:cNvSpPr txBox="1"/>
          <p:nvPr/>
        </p:nvSpPr>
        <p:spPr>
          <a:xfrm>
            <a:off x="736600" y="2692400"/>
            <a:ext cx="4241800" cy="8617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C1D21"/>
                </a:solidFill>
                <a:latin typeface="Georgia" panose="02040502050405020303" pitchFamily="18" charset="0"/>
              </a:rPr>
              <a:t>Wellbeing yang lebih engaging.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04A4EF-AFDA-C37C-A568-A8435B3113CC}"/>
              </a:ext>
            </a:extLst>
          </p:cNvPr>
          <p:cNvSpPr txBox="1"/>
          <p:nvPr/>
        </p:nvSpPr>
        <p:spPr>
          <a:xfrm>
            <a:off x="736600" y="3911600"/>
            <a:ext cx="3810000" cy="98488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635C55"/>
                </a:solidFill>
                <a:latin typeface="Aptos" panose="020B0004020202020204" pitchFamily="34" charset="0"/>
              </a:rPr>
              <a:t>Platform wellbeing yang menggabungkan progress harian, aktivitas olahraga, quiz, dan motivasi dalam satu pengalaman yang terasa ringan dipakai.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51D647-FD07-2E75-FBA9-17C0B5BB37A6}"/>
              </a:ext>
            </a:extLst>
          </p:cNvPr>
          <p:cNvSpPr/>
          <p:nvPr/>
        </p:nvSpPr>
        <p:spPr>
          <a:xfrm>
            <a:off x="736600" y="5257800"/>
            <a:ext cx="108966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6E2CA8-A02A-C8F0-DE02-FCDD5D824CC3}"/>
              </a:ext>
            </a:extLst>
          </p:cNvPr>
          <p:cNvSpPr txBox="1"/>
          <p:nvPr/>
        </p:nvSpPr>
        <p:spPr>
          <a:xfrm>
            <a:off x="889000" y="5321300"/>
            <a:ext cx="78486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8EAD13-C4A3-B784-CDA4-EDDA34C278AC}"/>
              </a:ext>
            </a:extLst>
          </p:cNvPr>
          <p:cNvSpPr/>
          <p:nvPr/>
        </p:nvSpPr>
        <p:spPr>
          <a:xfrm>
            <a:off x="1953260" y="5257800"/>
            <a:ext cx="85344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EED546-A3F7-4D83-F21C-C0DB47384DEE}"/>
              </a:ext>
            </a:extLst>
          </p:cNvPr>
          <p:cNvSpPr txBox="1"/>
          <p:nvPr/>
        </p:nvSpPr>
        <p:spPr>
          <a:xfrm>
            <a:off x="2105660" y="5321300"/>
            <a:ext cx="54864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Strava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43FEA1-FF95-A5CF-6CEB-2CCD0A8E7357}"/>
              </a:ext>
            </a:extLst>
          </p:cNvPr>
          <p:cNvSpPr/>
          <p:nvPr/>
        </p:nvSpPr>
        <p:spPr>
          <a:xfrm>
            <a:off x="2933700" y="5257800"/>
            <a:ext cx="69596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F1E7D0-57A9-E58C-2274-9A7183378BAF}"/>
              </a:ext>
            </a:extLst>
          </p:cNvPr>
          <p:cNvSpPr txBox="1"/>
          <p:nvPr/>
        </p:nvSpPr>
        <p:spPr>
          <a:xfrm>
            <a:off x="3086100" y="5321300"/>
            <a:ext cx="39116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Quiz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187F459-8E13-42D2-EA37-6EB424BE8977}"/>
              </a:ext>
            </a:extLst>
          </p:cNvPr>
          <p:cNvSpPr/>
          <p:nvPr/>
        </p:nvSpPr>
        <p:spPr>
          <a:xfrm>
            <a:off x="3756660" y="5257800"/>
            <a:ext cx="124714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C9C880-E295-E8B2-3EBE-37A33EADEF83}"/>
              </a:ext>
            </a:extLst>
          </p:cNvPr>
          <p:cNvSpPr txBox="1"/>
          <p:nvPr/>
        </p:nvSpPr>
        <p:spPr>
          <a:xfrm>
            <a:off x="3909060" y="5321300"/>
            <a:ext cx="94234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Leaderboard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C597FBD-D71C-D701-7C43-E54CC508D10E}"/>
              </a:ext>
            </a:extLst>
          </p:cNvPr>
          <p:cNvSpPr/>
          <p:nvPr/>
        </p:nvSpPr>
        <p:spPr>
          <a:xfrm>
            <a:off x="5130800" y="5257800"/>
            <a:ext cx="774700" cy="304800"/>
          </a:xfrm>
          <a:prstGeom prst="roundRect">
            <a:avLst/>
          </a:prstGeom>
          <a:solidFill>
            <a:srgbClr val="D6AB8E">
              <a:alpha val="18000"/>
            </a:srgbClr>
          </a:solidFill>
          <a:ln w="12700" cap="flat" cmpd="sng" algn="ctr">
            <a:solidFill>
              <a:srgbClr val="D6AB8E">
                <a:alpha val="5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E2E13E-2A8D-E7AF-2182-735094BDBF16}"/>
              </a:ext>
            </a:extLst>
          </p:cNvPr>
          <p:cNvSpPr txBox="1"/>
          <p:nvPr/>
        </p:nvSpPr>
        <p:spPr>
          <a:xfrm>
            <a:off x="5283200" y="5321300"/>
            <a:ext cx="46990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E64D51-D0C8-5BA3-E6DE-8C15458DCDF9}"/>
              </a:ext>
            </a:extLst>
          </p:cNvPr>
          <p:cNvSpPr txBox="1"/>
          <p:nvPr/>
        </p:nvSpPr>
        <p:spPr>
          <a:xfrm>
            <a:off x="736600" y="5765800"/>
            <a:ext cx="355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000" b="1">
                <a:solidFill>
                  <a:srgbClr val="B26F49"/>
                </a:solidFill>
                <a:latin typeface="Aptos" panose="020B0004020202020204" pitchFamily="34" charset="0"/>
              </a:rPr>
              <a:t>PITCH DECK SINGKAT UNTUK USER DAN TIM</a:t>
            </a:r>
            <a:endParaRPr lang="en-US" sz="1000" b="1">
              <a:solidFill>
                <a:srgbClr val="B26F49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845947-0D7D-D389-4998-40194B1F1313}"/>
              </a:ext>
            </a:extLst>
          </p:cNvPr>
          <p:cNvSpPr/>
          <p:nvPr/>
        </p:nvSpPr>
        <p:spPr>
          <a:xfrm>
            <a:off x="6273800" y="1727200"/>
            <a:ext cx="4445000" cy="34290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544B0AC-C032-F1A8-29C7-87A41838FD39}"/>
              </a:ext>
            </a:extLst>
          </p:cNvPr>
          <p:cNvSpPr/>
          <p:nvPr/>
        </p:nvSpPr>
        <p:spPr>
          <a:xfrm>
            <a:off x="5943600" y="1371600"/>
            <a:ext cx="4749800" cy="3733800"/>
          </a:xfrm>
          <a:prstGeom prst="roundRect">
            <a:avLst/>
          </a:prstGeom>
          <a:solidFill>
            <a:srgbClr val="DED5C9">
              <a:alpha val="92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55FDB16-2713-72B5-1BF2-B2B970E40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634" y="1218395"/>
            <a:ext cx="3411733" cy="4040210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4B84BB-A627-7268-CA9E-4B26BA725512}"/>
              </a:ext>
            </a:extLst>
          </p:cNvPr>
          <p:cNvCxnSpPr/>
          <p:nvPr/>
        </p:nvCxnSpPr>
        <p:spPr>
          <a:xfrm>
            <a:off x="5664200" y="1422400"/>
            <a:ext cx="0" cy="3606800"/>
          </a:xfrm>
          <a:prstGeom prst="line">
            <a:avLst/>
          </a:prstGeom>
          <a:ln w="38100" cap="flat" cmpd="sng" algn="ctr">
            <a:solidFill>
              <a:srgbClr val="B26F49">
                <a:alpha val="9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ED901F9-E380-FD03-9F28-5E9CC14EA484}"/>
              </a:ext>
            </a:extLst>
          </p:cNvPr>
          <p:cNvSpPr txBox="1"/>
          <p:nvPr/>
        </p:nvSpPr>
        <p:spPr>
          <a:xfrm>
            <a:off x="6096000" y="5283200"/>
            <a:ext cx="406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635C55"/>
                </a:solidFill>
                <a:latin typeface="Aptos" panose="020B0004020202020204" pitchFamily="34" charset="0"/>
              </a:rPr>
              <a:t>Dashboard sebagai pusat cerita produk.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BAD0393-A32F-D494-7AD4-7D6323772D79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D779FF0-C420-8C23-4447-AF7B6D6B696E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5BBAA8-A264-C4F5-00C0-F53CF1DE7C8E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7734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2B8D18-9117-D5BB-0EBD-3E50B363F4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B31"/>
          </a:solidFill>
          <a:ln w="12700" cap="flat" cmpd="sng" algn="ctr">
            <a:solidFill>
              <a:srgbClr val="282B3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0811C7-7C6F-4199-62AA-D8D8EC0EC5E6}"/>
              </a:ext>
            </a:extLst>
          </p:cNvPr>
          <p:cNvSpPr/>
          <p:nvPr/>
        </p:nvSpPr>
        <p:spPr>
          <a:xfrm>
            <a:off x="0" y="4724400"/>
            <a:ext cx="12192000" cy="2133600"/>
          </a:xfrm>
          <a:prstGeom prst="rect">
            <a:avLst/>
          </a:prstGeom>
          <a:solidFill>
            <a:srgbClr val="1C1D21">
              <a:alpha val="8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80020-531E-8299-D3E4-518F9BB6D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764" y="1170797"/>
            <a:ext cx="885471" cy="6302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12A915-E9E1-B4ED-7FA8-F007B223B238}"/>
              </a:ext>
            </a:extLst>
          </p:cNvPr>
          <p:cNvSpPr/>
          <p:nvPr/>
        </p:nvSpPr>
        <p:spPr>
          <a:xfrm>
            <a:off x="8128000" y="685800"/>
            <a:ext cx="2921000" cy="1600200"/>
          </a:xfrm>
          <a:prstGeom prst="rect">
            <a:avLst/>
          </a:prstGeom>
          <a:solidFill>
            <a:srgbClr val="1C1D21">
              <a:alpha val="54000"/>
            </a:srgbClr>
          </a:solidFill>
          <a:ln w="10160" cap="flat" cmpd="sng" algn="ctr">
            <a:solidFill>
              <a:srgbClr val="FAF8F4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DBEC56C-DBD0-E94E-E808-896266EC5851}"/>
              </a:ext>
            </a:extLst>
          </p:cNvPr>
          <p:cNvCxnSpPr/>
          <p:nvPr/>
        </p:nvCxnSpPr>
        <p:spPr>
          <a:xfrm>
            <a:off x="736600" y="736600"/>
            <a:ext cx="13208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8F4E540-36D0-1A20-B860-F9942DDAFABF}"/>
              </a:ext>
            </a:extLst>
          </p:cNvPr>
          <p:cNvSpPr txBox="1"/>
          <p:nvPr/>
        </p:nvSpPr>
        <p:spPr>
          <a:xfrm>
            <a:off x="7366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APLIKASI INI APA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DD4B9-8597-8935-1AFA-779717BAC15B}"/>
              </a:ext>
            </a:extLst>
          </p:cNvPr>
          <p:cNvSpPr txBox="1"/>
          <p:nvPr/>
        </p:nvSpPr>
        <p:spPr>
          <a:xfrm>
            <a:off x="736600" y="1752600"/>
            <a:ext cx="5334000" cy="143116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100" b="1">
                <a:solidFill>
                  <a:srgbClr val="FAF8F4"/>
                </a:solidFill>
                <a:latin typeface="Georgia" panose="02040502050405020303" pitchFamily="18" charset="0"/>
              </a:rPr>
              <a:t>Satu ruang untuk aktivitas sehat, insight, dan motivasi.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E0920D-F1DA-6805-2D4B-6B6C5BCFFC50}"/>
              </a:ext>
            </a:extLst>
          </p:cNvPr>
          <p:cNvSpPr txBox="1"/>
          <p:nvPr/>
        </p:nvSpPr>
        <p:spPr>
          <a:xfrm>
            <a:off x="736600" y="3429000"/>
            <a:ext cx="48260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>
                <a:solidFill>
                  <a:srgbClr val="D6D0C7"/>
                </a:solidFill>
                <a:latin typeface="Aptos" panose="020B0004020202020204" pitchFamily="34" charset="0"/>
              </a:rPr>
              <a:t>Welbeing menyatukan tracking aktivitas, quiz, dan reward dalam satu alur yang mudah dipakai setiap hari.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1AB967-C2CA-DAE7-B229-AA5C3D6D9DD6}"/>
              </a:ext>
            </a:extLst>
          </p:cNvPr>
          <p:cNvCxnSpPr/>
          <p:nvPr/>
        </p:nvCxnSpPr>
        <p:spPr>
          <a:xfrm>
            <a:off x="736600" y="4470400"/>
            <a:ext cx="10388600" cy="0"/>
          </a:xfrm>
          <a:prstGeom prst="line">
            <a:avLst/>
          </a:prstGeom>
          <a:ln w="13970" cap="flat" cmpd="sng" algn="ctr">
            <a:solidFill>
              <a:srgbClr val="6F7378">
                <a:alpha val="86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59E8169-C72A-2884-9125-7709FF6C5151}"/>
              </a:ext>
            </a:extLst>
          </p:cNvPr>
          <p:cNvSpPr txBox="1"/>
          <p:nvPr/>
        </p:nvSpPr>
        <p:spPr>
          <a:xfrm>
            <a:off x="736600" y="4927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B26F49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EF2D4A-A7AB-5E22-F056-2EA9ECFC7499}"/>
              </a:ext>
            </a:extLst>
          </p:cNvPr>
          <p:cNvSpPr txBox="1"/>
          <p:nvPr/>
        </p:nvSpPr>
        <p:spPr>
          <a:xfrm>
            <a:off x="736600" y="5283200"/>
            <a:ext cx="26924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FAF8F4"/>
                </a:solidFill>
                <a:latin typeface="Aptos" panose="020B0004020202020204" pitchFamily="34" charset="0"/>
              </a:rPr>
              <a:t>Progress wellbeing terlihat dari satu dashboard.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DB23A3-C146-1D03-8F35-8C3C7EDC332F}"/>
              </a:ext>
            </a:extLst>
          </p:cNvPr>
          <p:cNvSpPr txBox="1"/>
          <p:nvPr/>
        </p:nvSpPr>
        <p:spPr>
          <a:xfrm>
            <a:off x="736600" y="59690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Aptos" panose="020B0004020202020204" pitchFamily="34" charset="0"/>
              </a:rPr>
              <a:t>Aktivitas Tercatat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2D9E4B-3D2E-80DF-2677-F5A91E3A2BDF}"/>
              </a:ext>
            </a:extLst>
          </p:cNvPr>
          <p:cNvSpPr txBox="1"/>
          <p:nvPr/>
        </p:nvSpPr>
        <p:spPr>
          <a:xfrm>
            <a:off x="4038600" y="4927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B26F49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F0475B-5CE8-AD93-CFA8-608BDADD970B}"/>
              </a:ext>
            </a:extLst>
          </p:cNvPr>
          <p:cNvSpPr txBox="1"/>
          <p:nvPr/>
        </p:nvSpPr>
        <p:spPr>
          <a:xfrm>
            <a:off x="4038600" y="5283200"/>
            <a:ext cx="26924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300">
                <a:solidFill>
                  <a:srgbClr val="FAF8F4"/>
                </a:solidFill>
                <a:latin typeface="Aptos" panose="020B0004020202020204" pitchFamily="34" charset="0"/>
              </a:rPr>
              <a:t>Aktivitas sehat terasa lebih engaging.</a:t>
            </a:r>
            <a:endParaRPr lang="en-US" sz="1300">
              <a:solidFill>
                <a:srgbClr val="FAF8F4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892434-579B-E655-A4DC-79BEABDFF98E}"/>
              </a:ext>
            </a:extLst>
          </p:cNvPr>
          <p:cNvSpPr txBox="1"/>
          <p:nvPr/>
        </p:nvSpPr>
        <p:spPr>
          <a:xfrm>
            <a:off x="4038600" y="59690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Aptos" panose="020B0004020202020204" pitchFamily="34" charset="0"/>
              </a:rPr>
              <a:t>Quiz Interaktif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2E900B-D881-DC98-FAF4-1571C2C592BA}"/>
              </a:ext>
            </a:extLst>
          </p:cNvPr>
          <p:cNvSpPr txBox="1"/>
          <p:nvPr/>
        </p:nvSpPr>
        <p:spPr>
          <a:xfrm>
            <a:off x="7340600" y="49276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B26F49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25437C-7D85-58E7-1838-4582757205AE}"/>
              </a:ext>
            </a:extLst>
          </p:cNvPr>
          <p:cNvSpPr txBox="1"/>
          <p:nvPr/>
        </p:nvSpPr>
        <p:spPr>
          <a:xfrm>
            <a:off x="7340600" y="5283200"/>
            <a:ext cx="26924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FAF8F4"/>
                </a:solidFill>
                <a:latin typeface="Aptos" panose="020B0004020202020204" pitchFamily="34" charset="0"/>
              </a:rPr>
              <a:t>Motivasi dijaga lewat point dan kompetisi sehat.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5BCB4E-E8A8-1540-D574-07C52C6D274C}"/>
              </a:ext>
            </a:extLst>
          </p:cNvPr>
          <p:cNvSpPr txBox="1"/>
          <p:nvPr/>
        </p:nvSpPr>
        <p:spPr>
          <a:xfrm>
            <a:off x="7340600" y="5969000"/>
            <a:ext cx="2692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Aptos" panose="020B0004020202020204" pitchFamily="34" charset="0"/>
              </a:rPr>
              <a:t>Progress Lebih Terukur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54F249-7FFE-13EB-821B-626F9E35FBA1}"/>
              </a:ext>
            </a:extLst>
          </p:cNvPr>
          <p:cNvSpPr txBox="1"/>
          <p:nvPr/>
        </p:nvSpPr>
        <p:spPr>
          <a:xfrm>
            <a:off x="8128000" y="2616200"/>
            <a:ext cx="28194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FAF8F4"/>
                </a:solidFill>
                <a:latin typeface="Georgia" panose="02040502050405020303" pitchFamily="18" charset="0"/>
              </a:rPr>
              <a:t>Bukan sekadar tracking. Ini pengalaman wellbeing yang lebih mudah diikuti.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358977-FBD0-A978-5751-318476CD7793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6F7378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7B5F594-293E-DBCF-6696-A15B528AF251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F61EC5-15AA-28F3-0C26-FC8E4BD127FD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288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A8D79A-8E2A-5C44-47F1-2175C98B87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F3"/>
          </a:solidFill>
          <a:ln w="12700" cap="flat" cmpd="sng" algn="ctr">
            <a:solidFill>
              <a:srgbClr val="FCF8F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BE96A2-7A8F-EB81-6A8E-CAB62A296DC2}"/>
              </a:ext>
            </a:extLst>
          </p:cNvPr>
          <p:cNvSpPr/>
          <p:nvPr/>
        </p:nvSpPr>
        <p:spPr>
          <a:xfrm>
            <a:off x="0" y="0"/>
            <a:ext cx="3632200" cy="6858000"/>
          </a:xfrm>
          <a:prstGeom prst="rect">
            <a:avLst/>
          </a:prstGeom>
          <a:solidFill>
            <a:srgbClr val="DED5C9">
              <a:alpha val="82000"/>
            </a:srgbClr>
          </a:solidFill>
          <a:ln w="12700" cap="flat" cmpd="sng" algn="ctr">
            <a:solidFill>
              <a:srgbClr val="DED5C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918756-2108-F66B-23ED-8FAF7F575409}"/>
              </a:ext>
            </a:extLst>
          </p:cNvPr>
          <p:cNvSpPr/>
          <p:nvPr/>
        </p:nvSpPr>
        <p:spPr>
          <a:xfrm>
            <a:off x="9194800" y="838200"/>
            <a:ext cx="2032000" cy="1574800"/>
          </a:xfrm>
          <a:prstGeom prst="rect">
            <a:avLst/>
          </a:prstGeom>
          <a:solidFill>
            <a:srgbClr val="D6AB8E">
              <a:alpha val="60000"/>
            </a:srgbClr>
          </a:solidFill>
          <a:ln w="12700" cap="flat" cmpd="sng" algn="ctr">
            <a:solidFill>
              <a:srgbClr val="D6AB8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10C7D4-0C61-423A-4722-BFD18BABE1DC}"/>
              </a:ext>
            </a:extLst>
          </p:cNvPr>
          <p:cNvCxnSpPr/>
          <p:nvPr/>
        </p:nvCxnSpPr>
        <p:spPr>
          <a:xfrm>
            <a:off x="660400" y="736600"/>
            <a:ext cx="12446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E4A0E2C-524F-6DDB-6FAE-584DA1D11544}"/>
              </a:ext>
            </a:extLst>
          </p:cNvPr>
          <p:cNvSpPr txBox="1"/>
          <p:nvPr/>
        </p:nvSpPr>
        <p:spPr>
          <a:xfrm>
            <a:off x="6604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CARA MEMULAI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04913-664B-64DE-3177-CB5279A68C2C}"/>
              </a:ext>
            </a:extLst>
          </p:cNvPr>
          <p:cNvSpPr txBox="1"/>
          <p:nvPr/>
        </p:nvSpPr>
        <p:spPr>
          <a:xfrm>
            <a:off x="660400" y="1701800"/>
            <a:ext cx="2413000" cy="12926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1C1D21"/>
                </a:solidFill>
                <a:latin typeface="Georgia" panose="02040502050405020303" pitchFamily="18" charset="0"/>
              </a:rPr>
              <a:t>Dashboard menjadi titik mulai.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8FF2-EA67-AFC4-59B9-E40C3959C2C2}"/>
              </a:ext>
            </a:extLst>
          </p:cNvPr>
          <p:cNvSpPr txBox="1"/>
          <p:nvPr/>
        </p:nvSpPr>
        <p:spPr>
          <a:xfrm>
            <a:off x="660400" y="3200400"/>
            <a:ext cx="24130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50">
                <a:solidFill>
                  <a:srgbClr val="635C55"/>
                </a:solidFill>
                <a:latin typeface="Aptos" panose="020B0004020202020204" pitchFamily="34" charset="0"/>
              </a:rPr>
              <a:t>Pengguna langsung melihat progress, aktivitas, dan pintu masuk ke fitur penting.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71753-5072-6920-EEF8-27265329A37F}"/>
              </a:ext>
            </a:extLst>
          </p:cNvPr>
          <p:cNvSpPr txBox="1"/>
          <p:nvPr/>
        </p:nvSpPr>
        <p:spPr>
          <a:xfrm>
            <a:off x="660400" y="4445000"/>
            <a:ext cx="38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B26F49"/>
                </a:solidFill>
                <a:latin typeface="Georgia" panose="02040502050405020303" pitchFamily="18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A4B29-07E1-3324-979A-ECF18A9CFD80}"/>
              </a:ext>
            </a:extLst>
          </p:cNvPr>
          <p:cNvSpPr txBox="1"/>
          <p:nvPr/>
        </p:nvSpPr>
        <p:spPr>
          <a:xfrm>
            <a:off x="1117600" y="4419600"/>
            <a:ext cx="1955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Lihat ringkasan aktivitas dan point.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B8FA9-7CFC-66FC-525D-5E5211554BB3}"/>
              </a:ext>
            </a:extLst>
          </p:cNvPr>
          <p:cNvSpPr txBox="1"/>
          <p:nvPr/>
        </p:nvSpPr>
        <p:spPr>
          <a:xfrm>
            <a:off x="660400" y="4927600"/>
            <a:ext cx="38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B26F49"/>
                </a:solidFill>
                <a:latin typeface="Georgia" panose="02040502050405020303" pitchFamily="18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A9CC2-413C-B508-4715-F1C0E9C1F73D}"/>
              </a:ext>
            </a:extLst>
          </p:cNvPr>
          <p:cNvSpPr txBox="1"/>
          <p:nvPr/>
        </p:nvSpPr>
        <p:spPr>
          <a:xfrm>
            <a:off x="1117600" y="4902200"/>
            <a:ext cx="1955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Pantau progress harian dengan cepat.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1C6F95-547F-BE06-C516-8F1671BEA60E}"/>
              </a:ext>
            </a:extLst>
          </p:cNvPr>
          <p:cNvSpPr txBox="1"/>
          <p:nvPr/>
        </p:nvSpPr>
        <p:spPr>
          <a:xfrm>
            <a:off x="660400" y="5410200"/>
            <a:ext cx="38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B26F49"/>
                </a:solidFill>
                <a:latin typeface="Georgia" panose="02040502050405020303" pitchFamily="18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0B060-6F89-83E6-DAC6-4C6DC2ADA231}"/>
              </a:ext>
            </a:extLst>
          </p:cNvPr>
          <p:cNvSpPr txBox="1"/>
          <p:nvPr/>
        </p:nvSpPr>
        <p:spPr>
          <a:xfrm>
            <a:off x="1117600" y="5384800"/>
            <a:ext cx="1955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Masuk ke quiz, leaderboard, atau fitur lain dari satu tempat.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3E6413-EDF1-4359-E178-555351B4E376}"/>
              </a:ext>
            </a:extLst>
          </p:cNvPr>
          <p:cNvSpPr txBox="1"/>
          <p:nvPr/>
        </p:nvSpPr>
        <p:spPr>
          <a:xfrm>
            <a:off x="660400" y="5892800"/>
            <a:ext cx="381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600" b="1">
                <a:solidFill>
                  <a:srgbClr val="B26F49"/>
                </a:solidFill>
                <a:latin typeface="Georgia" panose="02040502050405020303" pitchFamily="18" charset="0"/>
              </a:rPr>
              <a:t>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646855-9D35-D9FA-E9BD-B4BA6776D006}"/>
              </a:ext>
            </a:extLst>
          </p:cNvPr>
          <p:cNvSpPr txBox="1"/>
          <p:nvPr/>
        </p:nvSpPr>
        <p:spPr>
          <a:xfrm>
            <a:off x="1117600" y="5867400"/>
            <a:ext cx="19558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Kembali ke dashboard untuk kontrol harian.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D84C8-04AE-1C99-F87E-894A2721253B}"/>
              </a:ext>
            </a:extLst>
          </p:cNvPr>
          <p:cNvSpPr txBox="1"/>
          <p:nvPr/>
        </p:nvSpPr>
        <p:spPr>
          <a:xfrm>
            <a:off x="4191000" y="863600"/>
            <a:ext cx="152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B26F49"/>
                </a:solidFill>
                <a:latin typeface="Aptos" panose="020B0004020202020204" pitchFamily="34" charset="0"/>
              </a:rPr>
              <a:t>Dashboard 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04F2C-1B7A-862B-201F-42305424FDDC}"/>
              </a:ext>
            </a:extLst>
          </p:cNvPr>
          <p:cNvSpPr txBox="1"/>
          <p:nvPr/>
        </p:nvSpPr>
        <p:spPr>
          <a:xfrm>
            <a:off x="4191000" y="1168400"/>
            <a:ext cx="330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100" b="1">
                <a:solidFill>
                  <a:srgbClr val="635C55"/>
                </a:solidFill>
                <a:latin typeface="Aptos" panose="020B0004020202020204" pitchFamily="34" charset="0"/>
              </a:rPr>
              <a:t>Satu layar yang langsung menjelaskan progress pengguna.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A8D63F-3018-CF16-08CB-EBD4DFAFD146}"/>
              </a:ext>
            </a:extLst>
          </p:cNvPr>
          <p:cNvSpPr/>
          <p:nvPr/>
        </p:nvSpPr>
        <p:spPr>
          <a:xfrm>
            <a:off x="4368800" y="1803400"/>
            <a:ext cx="5969000" cy="39116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6CF8DD-DAB4-102E-6D70-7C6128BFA9F6}"/>
              </a:ext>
            </a:extLst>
          </p:cNvPr>
          <p:cNvSpPr/>
          <p:nvPr/>
        </p:nvSpPr>
        <p:spPr>
          <a:xfrm>
            <a:off x="4038600" y="1447800"/>
            <a:ext cx="6273800" cy="4216400"/>
          </a:xfrm>
          <a:prstGeom prst="roundRect">
            <a:avLst/>
          </a:prstGeom>
          <a:solidFill>
            <a:srgbClr val="FAF8F4">
              <a:alpha val="95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AB8C0D5-E09E-F149-1089-9115C276C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371" y="-86785"/>
            <a:ext cx="6152259" cy="7285570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F07672-50A6-15ED-C85F-3373779CA4CA}"/>
              </a:ext>
            </a:extLst>
          </p:cNvPr>
          <p:cNvSpPr/>
          <p:nvPr/>
        </p:nvSpPr>
        <p:spPr>
          <a:xfrm>
            <a:off x="9296400" y="1041400"/>
            <a:ext cx="1803400" cy="1092200"/>
          </a:xfrm>
          <a:prstGeom prst="roundRect">
            <a:avLst/>
          </a:prstGeom>
          <a:solidFill>
            <a:srgbClr val="1C1D21">
              <a:alpha val="94000"/>
            </a:srgbClr>
          </a:solidFill>
          <a:ln w="10160" cap="flat" cmpd="sng" algn="ctr">
            <a:solidFill>
              <a:srgbClr val="1C1D21">
                <a:alpha val="1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963BB4-5D9B-C44F-D90C-6D8826AD1204}"/>
              </a:ext>
            </a:extLst>
          </p:cNvPr>
          <p:cNvSpPr txBox="1"/>
          <p:nvPr/>
        </p:nvSpPr>
        <p:spPr>
          <a:xfrm>
            <a:off x="9499600" y="1244600"/>
            <a:ext cx="1371600" cy="6463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Lihat activity, point, dan akses fitur utama tanpa berpindah banyak halaman.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48BD3B-DE34-B7C9-239B-62EDEFAAE184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DFECDE8-1C88-7BD2-0B79-E0A0A65F622E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79A827-5176-D453-CC3D-6EF7EEE70C5B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6318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99DD83-A4F1-BAA9-BAFF-E1A35715B14A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solidFill>
            <a:srgbClr val="B26F49">
              <a:alpha val="98000"/>
            </a:srgbClr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6CF884-D583-1CB4-1543-BE837B67055B}"/>
              </a:ext>
            </a:extLst>
          </p:cNvPr>
          <p:cNvSpPr/>
          <p:nvPr/>
        </p:nvSpPr>
        <p:spPr>
          <a:xfrm>
            <a:off x="5105400" y="0"/>
            <a:ext cx="7086600" cy="6858000"/>
          </a:xfrm>
          <a:prstGeom prst="rect">
            <a:avLst/>
          </a:prstGeom>
          <a:solidFill>
            <a:srgbClr val="F6F1EA"/>
          </a:solidFill>
          <a:ln w="12700" cap="flat" cmpd="sng" algn="ctr">
            <a:solidFill>
              <a:srgbClr val="F6F1E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4505C2-FF2E-A82A-EC8B-6903CDBE02EE}"/>
              </a:ext>
            </a:extLst>
          </p:cNvPr>
          <p:cNvSpPr/>
          <p:nvPr/>
        </p:nvSpPr>
        <p:spPr>
          <a:xfrm>
            <a:off x="685800" y="4064000"/>
            <a:ext cx="3149600" cy="1981200"/>
          </a:xfrm>
          <a:prstGeom prst="roundRect">
            <a:avLst/>
          </a:prstGeom>
          <a:solidFill>
            <a:srgbClr val="1C1D21">
              <a:alpha val="88000"/>
            </a:srgbClr>
          </a:solidFill>
          <a:ln w="10160" cap="flat" cmpd="sng" algn="ctr">
            <a:solidFill>
              <a:srgbClr val="FAF8F4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2B941-3368-C1DC-8909-FCFA8223A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122" y="4776690"/>
            <a:ext cx="780955" cy="55582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9E7E0B-FA7C-2C39-4C6E-7B6B40118252}"/>
              </a:ext>
            </a:extLst>
          </p:cNvPr>
          <p:cNvCxnSpPr/>
          <p:nvPr/>
        </p:nvCxnSpPr>
        <p:spPr>
          <a:xfrm>
            <a:off x="685800" y="736600"/>
            <a:ext cx="13208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A8E8FE-B2D0-F163-A6A1-EAE61F2FA481}"/>
              </a:ext>
            </a:extLst>
          </p:cNvPr>
          <p:cNvSpPr txBox="1"/>
          <p:nvPr/>
        </p:nvSpPr>
        <p:spPr>
          <a:xfrm>
            <a:off x="6858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INTEGRASI STRAVA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1680C-05CC-9E62-75DB-2392E5D4786E}"/>
              </a:ext>
            </a:extLst>
          </p:cNvPr>
          <p:cNvSpPr txBox="1"/>
          <p:nvPr/>
        </p:nvSpPr>
        <p:spPr>
          <a:xfrm>
            <a:off x="685800" y="1676400"/>
            <a:ext cx="3429000" cy="13388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900" b="1">
                <a:solidFill>
                  <a:srgbClr val="FAF8F4"/>
                </a:solidFill>
                <a:latin typeface="Georgia" panose="02040502050405020303" pitchFamily="18" charset="0"/>
              </a:rPr>
              <a:t>Strava tersambung ke alur wellbeing.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E8140-A22E-B1CE-C423-39B69B1EEED0}"/>
              </a:ext>
            </a:extLst>
          </p:cNvPr>
          <p:cNvSpPr txBox="1"/>
          <p:nvPr/>
        </p:nvSpPr>
        <p:spPr>
          <a:xfrm>
            <a:off x="685800" y="3098800"/>
            <a:ext cx="36322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50">
                <a:solidFill>
                  <a:srgbClr val="FAF8F4"/>
                </a:solidFill>
                <a:latin typeface="Aptos" panose="020B0004020202020204" pitchFamily="34" charset="0"/>
              </a:rPr>
              <a:t>Aktivitas olahraga dapat ikut tercatat tanpa membuat pengguna pindah alur dari kebiasaan sehat hariannya.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3F76C3-AE4A-6749-251F-A36D03BA01CA}"/>
              </a:ext>
            </a:extLst>
          </p:cNvPr>
          <p:cNvSpPr/>
          <p:nvPr/>
        </p:nvSpPr>
        <p:spPr>
          <a:xfrm>
            <a:off x="5461000" y="54102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680EDB-05D6-052B-1C26-89800663E867}"/>
              </a:ext>
            </a:extLst>
          </p:cNvPr>
          <p:cNvSpPr txBox="1"/>
          <p:nvPr/>
        </p:nvSpPr>
        <p:spPr>
          <a:xfrm>
            <a:off x="5689600" y="53340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1C1D21"/>
                </a:solidFill>
                <a:latin typeface="Aptos" panose="020B0004020202020204" pitchFamily="34" charset="0"/>
              </a:rPr>
              <a:t>Hubungkan akun Strava dari area integrasi.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177D6F-6101-3AFF-01B6-E9B74E669E03}"/>
              </a:ext>
            </a:extLst>
          </p:cNvPr>
          <p:cNvSpPr/>
          <p:nvPr/>
        </p:nvSpPr>
        <p:spPr>
          <a:xfrm>
            <a:off x="5461000" y="58674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5C2273-8EE1-C321-4765-6C12D3DF5F91}"/>
              </a:ext>
            </a:extLst>
          </p:cNvPr>
          <p:cNvSpPr txBox="1"/>
          <p:nvPr/>
        </p:nvSpPr>
        <p:spPr>
          <a:xfrm>
            <a:off x="5689600" y="5791200"/>
            <a:ext cx="33020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1C1D21"/>
                </a:solidFill>
                <a:latin typeface="Aptos" panose="020B0004020202020204" pitchFamily="34" charset="0"/>
              </a:rPr>
              <a:t>Sinkronisasi membantu membawa data aktivitas ke aplikasi.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80F99-C8FB-1340-D756-95D77C3717B9}"/>
              </a:ext>
            </a:extLst>
          </p:cNvPr>
          <p:cNvSpPr/>
          <p:nvPr/>
        </p:nvSpPr>
        <p:spPr>
          <a:xfrm>
            <a:off x="5461000" y="63246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990999-D9EB-EE14-3A87-CBD662DBACF6}"/>
              </a:ext>
            </a:extLst>
          </p:cNvPr>
          <p:cNvSpPr txBox="1"/>
          <p:nvPr/>
        </p:nvSpPr>
        <p:spPr>
          <a:xfrm>
            <a:off x="5689600" y="6248400"/>
            <a:ext cx="33020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300">
                <a:solidFill>
                  <a:srgbClr val="1C1D21"/>
                </a:solidFill>
                <a:latin typeface="Aptos" panose="020B0004020202020204" pitchFamily="34" charset="0"/>
              </a:rPr>
              <a:t>Aktivitas yang masuk ikut mendukung progress dan point.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CB00C4-FF5B-CD2C-905A-178D9E91A52C}"/>
              </a:ext>
            </a:extLst>
          </p:cNvPr>
          <p:cNvSpPr txBox="1"/>
          <p:nvPr/>
        </p:nvSpPr>
        <p:spPr>
          <a:xfrm>
            <a:off x="5461000" y="914400"/>
            <a:ext cx="152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B26F49"/>
                </a:solidFill>
                <a:latin typeface="Aptos" panose="020B0004020202020204" pitchFamily="34" charset="0"/>
              </a:rPr>
              <a:t>Integrasi 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6339DB-8B10-4E24-CBEA-9F880C6169C4}"/>
              </a:ext>
            </a:extLst>
          </p:cNvPr>
          <p:cNvSpPr/>
          <p:nvPr/>
        </p:nvSpPr>
        <p:spPr>
          <a:xfrm>
            <a:off x="5638800" y="1549400"/>
            <a:ext cx="4241800" cy="31242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170A427-21C3-4E40-D850-E3DF038502C6}"/>
              </a:ext>
            </a:extLst>
          </p:cNvPr>
          <p:cNvSpPr/>
          <p:nvPr/>
        </p:nvSpPr>
        <p:spPr>
          <a:xfrm>
            <a:off x="5308600" y="1193800"/>
            <a:ext cx="4546600" cy="3429000"/>
          </a:xfrm>
          <a:prstGeom prst="roundRect">
            <a:avLst/>
          </a:prstGeom>
          <a:solidFill>
            <a:srgbClr val="DED5C9">
              <a:alpha val="92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7D51267-A93E-582E-2D82-B7447D22F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120" y="1034611"/>
            <a:ext cx="3135560" cy="3747377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BF9098C-04E0-3E85-420D-E48CCB36A056}"/>
              </a:ext>
            </a:extLst>
          </p:cNvPr>
          <p:cNvSpPr/>
          <p:nvPr/>
        </p:nvSpPr>
        <p:spPr>
          <a:xfrm>
            <a:off x="5461000" y="4749800"/>
            <a:ext cx="1483360" cy="304800"/>
          </a:xfrm>
          <a:prstGeom prst="roundRect">
            <a:avLst/>
          </a:prstGeom>
          <a:solidFill>
            <a:srgbClr val="D6AB8E">
              <a:alpha val="28000"/>
            </a:srgbClr>
          </a:solidFill>
          <a:ln w="12700" cap="flat" cmpd="sng" algn="ctr">
            <a:solidFill>
              <a:srgbClr val="D6AB8E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7D2B8-E3B0-4730-8011-21E1CFC568C3}"/>
              </a:ext>
            </a:extLst>
          </p:cNvPr>
          <p:cNvSpPr txBox="1"/>
          <p:nvPr/>
        </p:nvSpPr>
        <p:spPr>
          <a:xfrm>
            <a:off x="5613400" y="4813300"/>
            <a:ext cx="117856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Connect Strava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15D360D-C765-3EB9-3FCF-0A6E512104FF}"/>
              </a:ext>
            </a:extLst>
          </p:cNvPr>
          <p:cNvSpPr/>
          <p:nvPr/>
        </p:nvSpPr>
        <p:spPr>
          <a:xfrm>
            <a:off x="7071360" y="4749800"/>
            <a:ext cx="1719579" cy="304800"/>
          </a:xfrm>
          <a:prstGeom prst="roundRect">
            <a:avLst/>
          </a:prstGeom>
          <a:solidFill>
            <a:srgbClr val="D6AB8E">
              <a:alpha val="28000"/>
            </a:srgbClr>
          </a:solidFill>
          <a:ln w="12700" cap="flat" cmpd="sng" algn="ctr">
            <a:solidFill>
              <a:srgbClr val="D6AB8E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35348-081E-7BF9-CA89-5C8ECADF5037}"/>
              </a:ext>
            </a:extLst>
          </p:cNvPr>
          <p:cNvSpPr txBox="1"/>
          <p:nvPr/>
        </p:nvSpPr>
        <p:spPr>
          <a:xfrm>
            <a:off x="7223760" y="4813300"/>
            <a:ext cx="141478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Sinkron Aktivitas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79AE0AA-D3F2-6FAC-D639-6B63FAE6287D}"/>
              </a:ext>
            </a:extLst>
          </p:cNvPr>
          <p:cNvSpPr/>
          <p:nvPr/>
        </p:nvSpPr>
        <p:spPr>
          <a:xfrm>
            <a:off x="8917940" y="4749800"/>
            <a:ext cx="1483360" cy="304800"/>
          </a:xfrm>
          <a:prstGeom prst="roundRect">
            <a:avLst/>
          </a:prstGeom>
          <a:solidFill>
            <a:srgbClr val="D6AB8E">
              <a:alpha val="28000"/>
            </a:srgbClr>
          </a:solidFill>
          <a:ln w="12700" cap="flat" cmpd="sng" algn="ctr">
            <a:solidFill>
              <a:srgbClr val="D6AB8E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51B2B3-64C4-6F86-767A-C24BFB578CFC}"/>
              </a:ext>
            </a:extLst>
          </p:cNvPr>
          <p:cNvSpPr txBox="1"/>
          <p:nvPr/>
        </p:nvSpPr>
        <p:spPr>
          <a:xfrm>
            <a:off x="9070340" y="4813300"/>
            <a:ext cx="1178560" cy="146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 b="1">
                <a:solidFill>
                  <a:srgbClr val="B26F49"/>
                </a:solidFill>
                <a:latin typeface="Aptos" panose="020B0004020202020204" pitchFamily="34" charset="0"/>
              </a:rPr>
              <a:t>Progress Fisik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FBC7D00-7006-B939-6E99-A611C00B6E27}"/>
              </a:ext>
            </a:extLst>
          </p:cNvPr>
          <p:cNvCxnSpPr/>
          <p:nvPr/>
        </p:nvCxnSpPr>
        <p:spPr>
          <a:xfrm>
            <a:off x="5080000" y="736600"/>
            <a:ext cx="0" cy="5384800"/>
          </a:xfrm>
          <a:prstGeom prst="line">
            <a:avLst/>
          </a:prstGeom>
          <a:ln w="15240" cap="flat" cmpd="sng" algn="ctr">
            <a:solidFill>
              <a:srgbClr val="DED5C9">
                <a:alpha val="8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32EDD0-0BCC-5C32-91A0-359575B4C9C1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D79732F-C32A-C40C-1392-5C0CAA5D06AF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0B561B-B768-95FE-CCB2-91756A59C1F2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2047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05C4ED-F67E-CCCC-3558-360C53A6CD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8F3"/>
          </a:solidFill>
          <a:ln w="12700" cap="flat" cmpd="sng" algn="ctr">
            <a:solidFill>
              <a:srgbClr val="FCF8F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E46FD2-D525-26EE-5EF0-9721200F52A1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DED5C9">
              <a:alpha val="80000"/>
            </a:srgbClr>
          </a:solidFill>
          <a:ln w="12700" cap="flat" cmpd="sng" algn="ctr">
            <a:solidFill>
              <a:srgbClr val="DED5C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171CC3-64A5-CA97-974D-13C8B8DAB2A6}"/>
              </a:ext>
            </a:extLst>
          </p:cNvPr>
          <p:cNvSpPr/>
          <p:nvPr/>
        </p:nvSpPr>
        <p:spPr>
          <a:xfrm>
            <a:off x="685800" y="4394200"/>
            <a:ext cx="4368800" cy="1346200"/>
          </a:xfrm>
          <a:prstGeom prst="roundRect">
            <a:avLst/>
          </a:prstGeom>
          <a:solidFill>
            <a:srgbClr val="F6F1EA">
              <a:alpha val="88000"/>
            </a:srgbClr>
          </a:solidFill>
          <a:ln w="12700" cap="flat" cmpd="sng" algn="ctr">
            <a:solidFill>
              <a:srgbClr val="DED5C9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EC1B20-8AEC-FD21-8351-FD8EC66763B6}"/>
              </a:ext>
            </a:extLst>
          </p:cNvPr>
          <p:cNvCxnSpPr/>
          <p:nvPr/>
        </p:nvCxnSpPr>
        <p:spPr>
          <a:xfrm>
            <a:off x="685800" y="736600"/>
            <a:ext cx="11176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4F9C6B7-AC7F-FCA5-DFE6-6E556705080C}"/>
              </a:ext>
            </a:extLst>
          </p:cNvPr>
          <p:cNvSpPr txBox="1"/>
          <p:nvPr/>
        </p:nvSpPr>
        <p:spPr>
          <a:xfrm>
            <a:off x="6858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QUIZ ATAU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A32D3-DF02-11D5-E364-513955EAA718}"/>
              </a:ext>
            </a:extLst>
          </p:cNvPr>
          <p:cNvSpPr txBox="1"/>
          <p:nvPr/>
        </p:nvSpPr>
        <p:spPr>
          <a:xfrm>
            <a:off x="685800" y="1625600"/>
            <a:ext cx="4572000" cy="1384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000" b="1">
                <a:solidFill>
                  <a:srgbClr val="1C1D21"/>
                </a:solidFill>
                <a:latin typeface="Georgia" panose="02040502050405020303" pitchFamily="18" charset="0"/>
              </a:rPr>
              <a:t>Quiz membantu aplikasi membaca kondisi pengguna.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9F47F-D32E-29D7-E705-221D788E58BA}"/>
              </a:ext>
            </a:extLst>
          </p:cNvPr>
          <p:cNvSpPr txBox="1"/>
          <p:nvPr/>
        </p:nvSpPr>
        <p:spPr>
          <a:xfrm>
            <a:off x="685800" y="3022600"/>
            <a:ext cx="419100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00">
                <a:solidFill>
                  <a:srgbClr val="635C55"/>
                </a:solidFill>
                <a:latin typeface="Aptos" panose="020B0004020202020204" pitchFamily="34" charset="0"/>
              </a:rPr>
              <a:t>Selain aktivitas, pengguna juga bisa memberi input kondisi dan preferensi agar pengalaman terasa lebih personal.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A2E5C-074B-E5EF-D88B-A8661A380649}"/>
              </a:ext>
            </a:extLst>
          </p:cNvPr>
          <p:cNvSpPr txBox="1"/>
          <p:nvPr/>
        </p:nvSpPr>
        <p:spPr>
          <a:xfrm>
            <a:off x="685800" y="40894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B26F49"/>
                </a:solidFill>
                <a:latin typeface="Aptos" panose="020B0004020202020204" pitchFamily="34" charset="0"/>
              </a:rPr>
              <a:t>Contoh pertanyaan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F4FF81-EE19-FF68-E1D1-DC13AF6E7093}"/>
              </a:ext>
            </a:extLst>
          </p:cNvPr>
          <p:cNvSpPr txBox="1"/>
          <p:nvPr/>
        </p:nvSpPr>
        <p:spPr>
          <a:xfrm>
            <a:off x="939800" y="4673600"/>
            <a:ext cx="36322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fi-FI" sz="2000" b="1">
                <a:solidFill>
                  <a:srgbClr val="1C1D21"/>
                </a:solidFill>
                <a:latin typeface="Georgia" panose="02040502050405020303" pitchFamily="18" charset="0"/>
              </a:rPr>
              <a:t>Bagaimana kondisi energi kamu hari ini?</a:t>
            </a:r>
            <a:endParaRPr lang="en-US" sz="2000" b="1">
              <a:solidFill>
                <a:srgbClr val="1C1D21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83D14-08A4-F5FC-D9FD-A14775B5ADF4}"/>
              </a:ext>
            </a:extLst>
          </p:cNvPr>
          <p:cNvSpPr txBox="1"/>
          <p:nvPr/>
        </p:nvSpPr>
        <p:spPr>
          <a:xfrm>
            <a:off x="939800" y="5486400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35C55"/>
                </a:solidFill>
                <a:latin typeface="Aptos" panose="020B0004020202020204" pitchFamily="34" charset="0"/>
              </a:rPr>
              <a:t>â€¢ Sangat baik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2F3216-A1B6-E345-B37F-020F75081D46}"/>
              </a:ext>
            </a:extLst>
          </p:cNvPr>
          <p:cNvSpPr txBox="1"/>
          <p:nvPr/>
        </p:nvSpPr>
        <p:spPr>
          <a:xfrm>
            <a:off x="939800" y="5689600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35C55"/>
                </a:solidFill>
                <a:latin typeface="Aptos" panose="020B0004020202020204" pitchFamily="34" charset="0"/>
              </a:rPr>
              <a:t>â€¢ Cukup stabil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35D64-CBC8-3F88-1C34-E153C2686514}"/>
              </a:ext>
            </a:extLst>
          </p:cNvPr>
          <p:cNvSpPr txBox="1"/>
          <p:nvPr/>
        </p:nvSpPr>
        <p:spPr>
          <a:xfrm>
            <a:off x="939800" y="5892800"/>
            <a:ext cx="19558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635C55"/>
                </a:solidFill>
                <a:latin typeface="Aptos" panose="020B0004020202020204" pitchFamily="34" charset="0"/>
              </a:rPr>
              <a:t>â€¢ Perlu istirahat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60DFE-4FE6-38B2-D9FA-72141A787307}"/>
              </a:ext>
            </a:extLst>
          </p:cNvPr>
          <p:cNvSpPr txBox="1"/>
          <p:nvPr/>
        </p:nvSpPr>
        <p:spPr>
          <a:xfrm>
            <a:off x="3251200" y="5435600"/>
            <a:ext cx="1422400" cy="73096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50">
                <a:solidFill>
                  <a:srgbClr val="635C55"/>
                </a:solidFill>
                <a:latin typeface="Aptos" panose="020B0004020202020204" pitchFamily="34" charset="0"/>
              </a:rPr>
              <a:t>Quiz membuat pengalaman lebih personal dan membantu aplikasi membaca kondisi pengguna.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BAAC57-A3F2-9564-3C32-2904200599F9}"/>
              </a:ext>
            </a:extLst>
          </p:cNvPr>
          <p:cNvSpPr txBox="1"/>
          <p:nvPr/>
        </p:nvSpPr>
        <p:spPr>
          <a:xfrm>
            <a:off x="7112000" y="1041400"/>
            <a:ext cx="1524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B26F49"/>
                </a:solidFill>
                <a:latin typeface="Aptos" panose="020B0004020202020204" pitchFamily="34" charset="0"/>
              </a:rPr>
              <a:t>Survey 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18BFD-7411-3336-0C5C-8233AB0C8277}"/>
              </a:ext>
            </a:extLst>
          </p:cNvPr>
          <p:cNvSpPr/>
          <p:nvPr/>
        </p:nvSpPr>
        <p:spPr>
          <a:xfrm>
            <a:off x="7289800" y="1676400"/>
            <a:ext cx="2565400" cy="42418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E47980-727E-0D91-A4EB-03B17065EE13}"/>
              </a:ext>
            </a:extLst>
          </p:cNvPr>
          <p:cNvSpPr/>
          <p:nvPr/>
        </p:nvSpPr>
        <p:spPr>
          <a:xfrm>
            <a:off x="6959600" y="1320800"/>
            <a:ext cx="2870200" cy="4546600"/>
          </a:xfrm>
          <a:prstGeom prst="roundRect">
            <a:avLst/>
          </a:prstGeom>
          <a:solidFill>
            <a:srgbClr val="FAF8F4">
              <a:alpha val="96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E717595-11E6-8A06-988F-66059DF82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708" y="1339977"/>
            <a:ext cx="2079985" cy="4508246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5FE6DA-26D9-13B2-4E7C-3F25A05D1527}"/>
              </a:ext>
            </a:extLst>
          </p:cNvPr>
          <p:cNvSpPr/>
          <p:nvPr/>
        </p:nvSpPr>
        <p:spPr>
          <a:xfrm>
            <a:off x="10134600" y="1752600"/>
            <a:ext cx="1295400" cy="1676400"/>
          </a:xfrm>
          <a:prstGeom prst="roundRect">
            <a:avLst/>
          </a:prstGeom>
          <a:solidFill>
            <a:srgbClr val="1C1D21">
              <a:alpha val="94000"/>
            </a:srgbClr>
          </a:solidFill>
          <a:ln w="10160" cap="flat" cmpd="sng" algn="ctr">
            <a:solidFill>
              <a:srgbClr val="1C1D21">
                <a:alpha val="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8FD50F-00CE-6DA9-D69A-A0CA951EEC89}"/>
              </a:ext>
            </a:extLst>
          </p:cNvPr>
          <p:cNvSpPr txBox="1"/>
          <p:nvPr/>
        </p:nvSpPr>
        <p:spPr>
          <a:xfrm>
            <a:off x="10312400" y="1981200"/>
            <a:ext cx="939800" cy="113107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>
                <a:solidFill>
                  <a:srgbClr val="1C1D21"/>
                </a:solidFill>
                <a:latin typeface="Aptos" panose="020B0004020202020204" pitchFamily="34" charset="0"/>
              </a:rPr>
              <a:t>Input sederhana membantu membaca kondisi pengguna, bukan hanya aktivitasnya.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1D626D-D95A-CC82-F841-C620A1C3F6C8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239CBA7-EBDF-BD0E-54A1-E58D91FD02A3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72612-9928-4ABF-D6B8-8E70CE0C384B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2639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4BB00F-2131-D7FE-C6C5-9A9988572F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D21"/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03F21B-7609-973E-F91F-9050EA486C3C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282B31">
              <a:alpha val="96000"/>
            </a:srgbClr>
          </a:solidFill>
          <a:ln w="12700" cap="flat" cmpd="sng" algn="ctr">
            <a:solidFill>
              <a:srgbClr val="282B3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4DFF1F-B413-5664-337C-A592210E0E2A}"/>
              </a:ext>
            </a:extLst>
          </p:cNvPr>
          <p:cNvSpPr/>
          <p:nvPr/>
        </p:nvSpPr>
        <p:spPr>
          <a:xfrm>
            <a:off x="8712200" y="0"/>
            <a:ext cx="3479800" cy="6858000"/>
          </a:xfrm>
          <a:prstGeom prst="rect">
            <a:avLst/>
          </a:prstGeom>
          <a:solidFill>
            <a:srgbClr val="B26F49">
              <a:alpha val="96000"/>
            </a:srgbClr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83CD9-2411-3B12-DC06-DF9BBEE4B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143" y="4134083"/>
            <a:ext cx="1198515" cy="7996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9F3188-3C2D-1BD6-14FB-6D59EFAA3E38}"/>
              </a:ext>
            </a:extLst>
          </p:cNvPr>
          <p:cNvSpPr/>
          <p:nvPr/>
        </p:nvSpPr>
        <p:spPr>
          <a:xfrm>
            <a:off x="9067800" y="3632200"/>
            <a:ext cx="2489200" cy="1803400"/>
          </a:xfrm>
          <a:prstGeom prst="rect">
            <a:avLst/>
          </a:prstGeom>
          <a:solidFill>
            <a:srgbClr val="1C1D21">
              <a:alpha val="62000"/>
            </a:srgbClr>
          </a:solidFill>
          <a:ln w="10160" cap="flat" cmpd="sng" algn="ctr">
            <a:solidFill>
              <a:srgbClr val="FAF8F4">
                <a:alpha val="14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930914-7163-07A7-C0F8-7E1D943CC4C7}"/>
              </a:ext>
            </a:extLst>
          </p:cNvPr>
          <p:cNvCxnSpPr/>
          <p:nvPr/>
        </p:nvCxnSpPr>
        <p:spPr>
          <a:xfrm>
            <a:off x="685800" y="736600"/>
            <a:ext cx="14986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DEB936-F135-9A7F-8FB3-0B61BF05A416}"/>
              </a:ext>
            </a:extLst>
          </p:cNvPr>
          <p:cNvSpPr txBox="1"/>
          <p:nvPr/>
        </p:nvSpPr>
        <p:spPr>
          <a:xfrm>
            <a:off x="6858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POINT DAN LEADERBOARD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E42CF-0CFC-6827-B429-CAD4BD383C4E}"/>
              </a:ext>
            </a:extLst>
          </p:cNvPr>
          <p:cNvSpPr txBox="1"/>
          <p:nvPr/>
        </p:nvSpPr>
        <p:spPr>
          <a:xfrm>
            <a:off x="685800" y="1651000"/>
            <a:ext cx="2997200" cy="215443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800" b="1">
                <a:solidFill>
                  <a:srgbClr val="FAF8F4"/>
                </a:solidFill>
                <a:latin typeface="Georgia" panose="02040502050405020303" pitchFamily="18" charset="0"/>
              </a:rPr>
              <a:t>Point memberi progres. Leaderboard memberi dorongan.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CE136B-176D-4BA1-E99B-9FA8AE0BB4F9}"/>
              </a:ext>
            </a:extLst>
          </p:cNvPr>
          <p:cNvSpPr txBox="1"/>
          <p:nvPr/>
        </p:nvSpPr>
        <p:spPr>
          <a:xfrm>
            <a:off x="685800" y="3225800"/>
            <a:ext cx="2921000" cy="8925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450">
                <a:solidFill>
                  <a:srgbClr val="D6D0C7"/>
                </a:solidFill>
                <a:latin typeface="Aptos" panose="020B0004020202020204" pitchFamily="34" charset="0"/>
              </a:rPr>
              <a:t>Pengguna dapat melihat hasil aktivitasnya dengan cepat, lalu terdorong untuk tetap aktif lewat kompetisi yang sehat.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6F39DC-267F-CE4E-F420-93DF36C90C73}"/>
              </a:ext>
            </a:extLst>
          </p:cNvPr>
          <p:cNvSpPr/>
          <p:nvPr/>
        </p:nvSpPr>
        <p:spPr>
          <a:xfrm>
            <a:off x="685800" y="44196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49DC77-AA9D-E959-4736-879E4569BEC6}"/>
              </a:ext>
            </a:extLst>
          </p:cNvPr>
          <p:cNvSpPr txBox="1"/>
          <p:nvPr/>
        </p:nvSpPr>
        <p:spPr>
          <a:xfrm>
            <a:off x="914400" y="4343400"/>
            <a:ext cx="2794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FAF8F4"/>
                </a:solidFill>
                <a:latin typeface="Aptos" panose="020B0004020202020204" pitchFamily="34" charset="0"/>
              </a:rPr>
              <a:t>Point berasal dari aktivitas dan partisipasi.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E9E1890-F8F2-A868-AEE4-0C43DE1F17A7}"/>
              </a:ext>
            </a:extLst>
          </p:cNvPr>
          <p:cNvSpPr/>
          <p:nvPr/>
        </p:nvSpPr>
        <p:spPr>
          <a:xfrm>
            <a:off x="685800" y="48514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19F850-0A3D-D220-D750-72CB95F658B6}"/>
              </a:ext>
            </a:extLst>
          </p:cNvPr>
          <p:cNvSpPr txBox="1"/>
          <p:nvPr/>
        </p:nvSpPr>
        <p:spPr>
          <a:xfrm>
            <a:off x="914400" y="4775200"/>
            <a:ext cx="27940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FAF8F4"/>
                </a:solidFill>
                <a:latin typeface="Aptos" panose="020B0004020202020204" pitchFamily="34" charset="0"/>
              </a:rPr>
              <a:t>Progress terasa cepat dipahami.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B7050B-E6E3-1102-505A-AEABB6784858}"/>
              </a:ext>
            </a:extLst>
          </p:cNvPr>
          <p:cNvSpPr/>
          <p:nvPr/>
        </p:nvSpPr>
        <p:spPr>
          <a:xfrm>
            <a:off x="685800" y="5283200"/>
            <a:ext cx="101600" cy="101600"/>
          </a:xfrm>
          <a:prstGeom prst="ellipse">
            <a:avLst/>
          </a:prstGeom>
          <a:solidFill>
            <a:srgbClr val="B26F49"/>
          </a:solidFill>
          <a:ln w="12700" cap="flat" cmpd="sng" algn="ctr">
            <a:solidFill>
              <a:srgbClr val="B26F49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35815E-EA64-05AF-9279-779682E7C0A3}"/>
              </a:ext>
            </a:extLst>
          </p:cNvPr>
          <p:cNvSpPr txBox="1"/>
          <p:nvPr/>
        </p:nvSpPr>
        <p:spPr>
          <a:xfrm>
            <a:off x="914400" y="5207000"/>
            <a:ext cx="2794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>
                <a:solidFill>
                  <a:srgbClr val="FAF8F4"/>
                </a:solidFill>
                <a:latin typeface="Aptos" panose="020B0004020202020204" pitchFamily="34" charset="0"/>
              </a:rPr>
              <a:t>Leaderboard membuat pengalaman lebih hidup.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0C7BB4-F4BE-834E-632D-81F8D4F52E7E}"/>
              </a:ext>
            </a:extLst>
          </p:cNvPr>
          <p:cNvSpPr txBox="1"/>
          <p:nvPr/>
        </p:nvSpPr>
        <p:spPr>
          <a:xfrm>
            <a:off x="4292600" y="914400"/>
            <a:ext cx="1651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50" b="1">
                <a:solidFill>
                  <a:srgbClr val="D6D0C7"/>
                </a:solidFill>
                <a:latin typeface="Aptos" panose="020B0004020202020204" pitchFamily="34" charset="0"/>
              </a:rPr>
              <a:t>Leaderboard 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4AC3FB-5DE0-EA73-C7CA-77AC8C9865F6}"/>
              </a:ext>
            </a:extLst>
          </p:cNvPr>
          <p:cNvSpPr/>
          <p:nvPr/>
        </p:nvSpPr>
        <p:spPr>
          <a:xfrm>
            <a:off x="4470400" y="1549400"/>
            <a:ext cx="4013200" cy="3022600"/>
          </a:xfrm>
          <a:prstGeom prst="rect">
            <a:avLst/>
          </a:prstGeom>
          <a:solidFill>
            <a:srgbClr val="1C1D21">
              <a:alpha val="22000"/>
            </a:srgbClr>
          </a:solidFill>
          <a:ln w="12700" cap="flat" cmpd="sng" algn="ctr">
            <a:solidFill>
              <a:srgbClr val="1C1D21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E6B9273-FB7E-EC5D-0FD1-3003C6451E34}"/>
              </a:ext>
            </a:extLst>
          </p:cNvPr>
          <p:cNvSpPr/>
          <p:nvPr/>
        </p:nvSpPr>
        <p:spPr>
          <a:xfrm>
            <a:off x="4140200" y="1193800"/>
            <a:ext cx="4318000" cy="3327400"/>
          </a:xfrm>
          <a:prstGeom prst="roundRect">
            <a:avLst/>
          </a:prstGeom>
          <a:solidFill>
            <a:srgbClr val="3D3F46">
              <a:alpha val="92000"/>
            </a:srgbClr>
          </a:solidFill>
          <a:ln w="12700" cap="flat" cmpd="sng" algn="ctr">
            <a:solidFill>
              <a:srgbClr val="FAF8F4">
                <a:alpha val="16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203200" dist="101600" dir="5400000" rotWithShape="0">
              <a:srgbClr val="1C1D21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46E4CF-B2A3-5379-BE8B-7138E9EB5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305" y="1044933"/>
            <a:ext cx="2917790" cy="3625134"/>
          </a:xfrm>
          <a:prstGeom prst="rect">
            <a:avLst/>
          </a:prstGeom>
          <a:ln w="9525" cap="flat" cmpd="sng" algn="ctr">
            <a:solidFill>
              <a:srgbClr val="FAF8F4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B07A59E-2ED8-F328-A5AA-24E71E3161E2}"/>
              </a:ext>
            </a:extLst>
          </p:cNvPr>
          <p:cNvSpPr/>
          <p:nvPr/>
        </p:nvSpPr>
        <p:spPr>
          <a:xfrm>
            <a:off x="4292600" y="4749800"/>
            <a:ext cx="1295400" cy="736600"/>
          </a:xfrm>
          <a:prstGeom prst="roundRect">
            <a:avLst/>
          </a:prstGeom>
          <a:solidFill>
            <a:srgbClr val="D6AB8E">
              <a:alpha val="22000"/>
            </a:srgbClr>
          </a:solidFill>
          <a:ln w="12700" cap="flat" cmpd="sng" algn="ctr">
            <a:solidFill>
              <a:srgbClr val="D6AB8E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F8D8E9-2865-E572-8649-27BA0C851668}"/>
              </a:ext>
            </a:extLst>
          </p:cNvPr>
          <p:cNvSpPr txBox="1"/>
          <p:nvPr/>
        </p:nvSpPr>
        <p:spPr>
          <a:xfrm>
            <a:off x="4445000" y="4876800"/>
            <a:ext cx="9906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50" b="1">
                <a:solidFill>
                  <a:srgbClr val="D6D0C7"/>
                </a:solidFill>
                <a:latin typeface="Aptos" panose="020B0004020202020204" pitchFamily="34" charset="0"/>
              </a:rPr>
              <a:t>AKTIVITAS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40A0B5-755C-5255-6A3E-DAF5FA387A53}"/>
              </a:ext>
            </a:extLst>
          </p:cNvPr>
          <p:cNvSpPr txBox="1"/>
          <p:nvPr/>
        </p:nvSpPr>
        <p:spPr>
          <a:xfrm>
            <a:off x="4445000" y="5054600"/>
            <a:ext cx="99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FAF8F4"/>
                </a:solidFill>
                <a:latin typeface="Georgia" panose="02040502050405020303" pitchFamily="18" charset="0"/>
              </a:rPr>
              <a:t>+120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9A6D61-F34E-ECD3-1BA9-D3AD1A9E18C9}"/>
              </a:ext>
            </a:extLst>
          </p:cNvPr>
          <p:cNvSpPr/>
          <p:nvPr/>
        </p:nvSpPr>
        <p:spPr>
          <a:xfrm>
            <a:off x="5715000" y="4749800"/>
            <a:ext cx="1295400" cy="736600"/>
          </a:xfrm>
          <a:prstGeom prst="roundRect">
            <a:avLst/>
          </a:prstGeom>
          <a:solidFill>
            <a:srgbClr val="D6AB8E">
              <a:alpha val="22000"/>
            </a:srgbClr>
          </a:solidFill>
          <a:ln w="12700" cap="flat" cmpd="sng" algn="ctr">
            <a:solidFill>
              <a:srgbClr val="D6AB8E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506B0E-D452-A0E2-B960-9B3E2683D5B6}"/>
              </a:ext>
            </a:extLst>
          </p:cNvPr>
          <p:cNvSpPr txBox="1"/>
          <p:nvPr/>
        </p:nvSpPr>
        <p:spPr>
          <a:xfrm>
            <a:off x="5867400" y="4876800"/>
            <a:ext cx="9906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50" b="1">
                <a:solidFill>
                  <a:srgbClr val="D6D0C7"/>
                </a:solidFill>
                <a:latin typeface="Aptos" panose="020B0004020202020204" pitchFamily="34" charset="0"/>
              </a:rPr>
              <a:t>QUIZ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987952-BBBF-08F6-9EED-39581255FF39}"/>
              </a:ext>
            </a:extLst>
          </p:cNvPr>
          <p:cNvSpPr txBox="1"/>
          <p:nvPr/>
        </p:nvSpPr>
        <p:spPr>
          <a:xfrm>
            <a:off x="5867400" y="5054600"/>
            <a:ext cx="99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FAF8F4"/>
                </a:solidFill>
                <a:latin typeface="Georgia" panose="02040502050405020303" pitchFamily="18" charset="0"/>
              </a:rPr>
              <a:t>+80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C6FC786-0C91-ECBF-E4B0-D0923DE3EB09}"/>
              </a:ext>
            </a:extLst>
          </p:cNvPr>
          <p:cNvSpPr/>
          <p:nvPr/>
        </p:nvSpPr>
        <p:spPr>
          <a:xfrm>
            <a:off x="7137400" y="4749800"/>
            <a:ext cx="1498600" cy="736600"/>
          </a:xfrm>
          <a:prstGeom prst="roundRect">
            <a:avLst/>
          </a:prstGeom>
          <a:solidFill>
            <a:srgbClr val="D6AB8E">
              <a:alpha val="22000"/>
            </a:srgbClr>
          </a:solidFill>
          <a:ln w="12700" cap="flat" cmpd="sng" algn="ctr">
            <a:solidFill>
              <a:srgbClr val="D6AB8E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CBA453-0B26-3C62-370F-CD2D9025CD8A}"/>
              </a:ext>
            </a:extLst>
          </p:cNvPr>
          <p:cNvSpPr txBox="1"/>
          <p:nvPr/>
        </p:nvSpPr>
        <p:spPr>
          <a:xfrm>
            <a:off x="7289800" y="4876800"/>
            <a:ext cx="1193800" cy="1308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850" b="1">
                <a:solidFill>
                  <a:srgbClr val="D6D0C7"/>
                </a:solidFill>
                <a:latin typeface="Aptos" panose="020B0004020202020204" pitchFamily="34" charset="0"/>
              </a:rPr>
              <a:t>TOTAL POINT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342790-FDC3-C8EF-809C-7E3DA5953FF3}"/>
              </a:ext>
            </a:extLst>
          </p:cNvPr>
          <p:cNvSpPr txBox="1"/>
          <p:nvPr/>
        </p:nvSpPr>
        <p:spPr>
          <a:xfrm>
            <a:off x="7289800" y="5054600"/>
            <a:ext cx="119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>
                <a:solidFill>
                  <a:srgbClr val="FAF8F4"/>
                </a:solidFill>
                <a:latin typeface="Georgia" panose="02040502050405020303" pitchFamily="18" charset="0"/>
              </a:rPr>
              <a:t>1.240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5446E8-B663-BDE6-4ECF-88ABE37F2AFD}"/>
              </a:ext>
            </a:extLst>
          </p:cNvPr>
          <p:cNvSpPr txBox="1"/>
          <p:nvPr/>
        </p:nvSpPr>
        <p:spPr>
          <a:xfrm>
            <a:off x="9067800" y="1397000"/>
            <a:ext cx="2209800" cy="1169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b="1">
                <a:solidFill>
                  <a:srgbClr val="FAF8F4"/>
                </a:solidFill>
                <a:latin typeface="Georgia" panose="02040502050405020303" pitchFamily="18" charset="0"/>
              </a:rPr>
              <a:t>Kompetisi sehat membuat progress lebih terasa hidup.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147D70-92A4-9A75-A8C1-89F69991D4B5}"/>
              </a:ext>
            </a:extLst>
          </p:cNvPr>
          <p:cNvSpPr txBox="1"/>
          <p:nvPr/>
        </p:nvSpPr>
        <p:spPr>
          <a:xfrm>
            <a:off x="9067800" y="2489200"/>
            <a:ext cx="2159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00">
                <a:solidFill>
                  <a:srgbClr val="FAF8F4"/>
                </a:solidFill>
                <a:latin typeface="Aptos" panose="020B0004020202020204" pitchFamily="34" charset="0"/>
              </a:rPr>
              <a:t>Point menjadi bukti. Leaderboard menjadi dorongan sosial.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99EEE4-B640-D300-55B4-22FE2A9DD7DF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6F7378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F2CF951-11F8-B76B-4DB7-D337224C513C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D6D0C7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A7C9CC-32E5-16EC-4258-8C7B1811C645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D6D0C7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4703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04C3F1-FDE9-86F9-D12F-C4BA71D5F7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A"/>
          </a:solidFill>
          <a:ln w="12700" cap="flat" cmpd="sng" algn="ctr">
            <a:solidFill>
              <a:srgbClr val="F6F1E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77A48D-9DFF-16EB-91CC-E6DDB0ADF413}"/>
              </a:ext>
            </a:extLst>
          </p:cNvPr>
          <p:cNvSpPr/>
          <p:nvPr/>
        </p:nvSpPr>
        <p:spPr>
          <a:xfrm>
            <a:off x="0" y="4038600"/>
            <a:ext cx="12192000" cy="2819400"/>
          </a:xfrm>
          <a:prstGeom prst="rect">
            <a:avLst/>
          </a:prstGeom>
          <a:solidFill>
            <a:srgbClr val="FCF8F3"/>
          </a:solidFill>
          <a:ln w="12700" cap="flat" cmpd="sng" algn="ctr">
            <a:solidFill>
              <a:srgbClr val="FCF8F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F3E93-5324-400C-BAA5-AA6A81153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57" y="862316"/>
            <a:ext cx="11923487" cy="84861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FDFE9C-26D3-59B9-529D-49EDEDAD6CD7}"/>
              </a:ext>
            </a:extLst>
          </p:cNvPr>
          <p:cNvSpPr/>
          <p:nvPr/>
        </p:nvSpPr>
        <p:spPr>
          <a:xfrm>
            <a:off x="736600" y="4343400"/>
            <a:ext cx="10718800" cy="1524000"/>
          </a:xfrm>
          <a:prstGeom prst="rect">
            <a:avLst/>
          </a:prstGeom>
          <a:solidFill>
            <a:srgbClr val="1C1D21">
              <a:alpha val="68000"/>
            </a:srgbClr>
          </a:solidFill>
          <a:ln w="11430" cap="flat" cmpd="sng" algn="ctr">
            <a:solidFill>
              <a:srgbClr val="FAF8F4">
                <a:alpha val="1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B6C09D-CFB3-F856-BF3C-FA3EBC47904D}"/>
              </a:ext>
            </a:extLst>
          </p:cNvPr>
          <p:cNvCxnSpPr/>
          <p:nvPr/>
        </p:nvCxnSpPr>
        <p:spPr>
          <a:xfrm>
            <a:off x="736600" y="736600"/>
            <a:ext cx="1092200" cy="0"/>
          </a:xfrm>
          <a:prstGeom prst="line">
            <a:avLst/>
          </a:prstGeom>
          <a:ln w="2667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60989F2-8BFE-A5FC-A31A-F50F60C0B7B2}"/>
              </a:ext>
            </a:extLst>
          </p:cNvPr>
          <p:cNvSpPr txBox="1"/>
          <p:nvPr/>
        </p:nvSpPr>
        <p:spPr>
          <a:xfrm>
            <a:off x="736600" y="8636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PENUTUP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A6D0A-6AB6-6939-EB69-8D37BF1D8C01}"/>
              </a:ext>
            </a:extLst>
          </p:cNvPr>
          <p:cNvSpPr txBox="1"/>
          <p:nvPr/>
        </p:nvSpPr>
        <p:spPr>
          <a:xfrm>
            <a:off x="736600" y="1676400"/>
            <a:ext cx="6858000" cy="147732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3200" b="1">
                <a:solidFill>
                  <a:srgbClr val="1C1D21"/>
                </a:solidFill>
                <a:latin typeface="Georgia" panose="02040502050405020303" pitchFamily="18" charset="0"/>
              </a:rPr>
              <a:t>Welbeing membuat wellbeing terasa nyata, personal, dan terus bergerak.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22B54A-FBA1-07C5-74F4-68070BD04C62}"/>
              </a:ext>
            </a:extLst>
          </p:cNvPr>
          <p:cNvSpPr txBox="1"/>
          <p:nvPr/>
        </p:nvSpPr>
        <p:spPr>
          <a:xfrm>
            <a:off x="736600" y="3124200"/>
            <a:ext cx="59690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550">
                <a:solidFill>
                  <a:srgbClr val="635C55"/>
                </a:solidFill>
                <a:latin typeface="Aptos" panose="020B0004020202020204" pitchFamily="34" charset="0"/>
              </a:rPr>
              <a:t>Dengan dashboard, Strava, quiz, point, dan leaderboard, kebiasaan sehat terasa lebih jelas untuk dijalani setiap hari.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1167EC-DCAC-6327-2AC6-ECDEA37AB399}"/>
              </a:ext>
            </a:extLst>
          </p:cNvPr>
          <p:cNvCxnSpPr/>
          <p:nvPr/>
        </p:nvCxnSpPr>
        <p:spPr>
          <a:xfrm>
            <a:off x="8178800" y="1892300"/>
            <a:ext cx="254000" cy="0"/>
          </a:xfrm>
          <a:prstGeom prst="line">
            <a:avLst/>
          </a:prstGeom>
          <a:ln w="2794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501532-4CA8-277E-EE03-D6C5830D677C}"/>
              </a:ext>
            </a:extLst>
          </p:cNvPr>
          <p:cNvSpPr txBox="1"/>
          <p:nvPr/>
        </p:nvSpPr>
        <p:spPr>
          <a:xfrm>
            <a:off x="8585200" y="1752600"/>
            <a:ext cx="2540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250" b="1">
                <a:solidFill>
                  <a:srgbClr val="1C1D21"/>
                </a:solidFill>
                <a:latin typeface="Aptos" panose="020B0004020202020204" pitchFamily="34" charset="0"/>
              </a:rPr>
              <a:t>Lebih terukur karena progress terlihat jelas.</a:t>
            </a:r>
            <a:endParaRPr lang="en-US" sz="1250" b="1">
              <a:solidFill>
                <a:srgbClr val="1C1D21"/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1C7B7E-4E68-8061-CAE4-EC126E1CAFC0}"/>
              </a:ext>
            </a:extLst>
          </p:cNvPr>
          <p:cNvCxnSpPr/>
          <p:nvPr/>
        </p:nvCxnSpPr>
        <p:spPr>
          <a:xfrm>
            <a:off x="8178800" y="2578100"/>
            <a:ext cx="254000" cy="0"/>
          </a:xfrm>
          <a:prstGeom prst="line">
            <a:avLst/>
          </a:prstGeom>
          <a:ln w="2794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F1A7DE6-43D3-6A12-560E-753DBC24A83C}"/>
              </a:ext>
            </a:extLst>
          </p:cNvPr>
          <p:cNvSpPr txBox="1"/>
          <p:nvPr/>
        </p:nvSpPr>
        <p:spPr>
          <a:xfrm>
            <a:off x="8585200" y="2438400"/>
            <a:ext cx="2540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250" b="1">
                <a:solidFill>
                  <a:srgbClr val="1C1D21"/>
                </a:solidFill>
                <a:latin typeface="Aptos" panose="020B0004020202020204" pitchFamily="34" charset="0"/>
              </a:rPr>
              <a:t>Lebih personal karena ada input dari quiz.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E805D1-3CDF-63AA-193E-A51E0195D1A1}"/>
              </a:ext>
            </a:extLst>
          </p:cNvPr>
          <p:cNvCxnSpPr/>
          <p:nvPr/>
        </p:nvCxnSpPr>
        <p:spPr>
          <a:xfrm>
            <a:off x="8178800" y="3263900"/>
            <a:ext cx="254000" cy="0"/>
          </a:xfrm>
          <a:prstGeom prst="line">
            <a:avLst/>
          </a:prstGeom>
          <a:ln w="27940" cap="flat" cmpd="sng" algn="ctr">
            <a:solidFill>
              <a:srgbClr val="B26F49">
                <a:alpha val="9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705924-E2FC-A8F0-3726-050F133D92A2}"/>
              </a:ext>
            </a:extLst>
          </p:cNvPr>
          <p:cNvSpPr txBox="1"/>
          <p:nvPr/>
        </p:nvSpPr>
        <p:spPr>
          <a:xfrm>
            <a:off x="8585200" y="3124200"/>
            <a:ext cx="2540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sv-SE" sz="1250" b="1">
                <a:solidFill>
                  <a:srgbClr val="1C1D21"/>
                </a:solidFill>
                <a:latin typeface="Aptos" panose="020B0004020202020204" pitchFamily="34" charset="0"/>
              </a:rPr>
              <a:t>Lebih memotivasi karena ada point dan leaderboard.</a:t>
            </a:r>
            <a:endParaRPr lang="en-US" sz="1250" b="1">
              <a:solidFill>
                <a:srgbClr val="1C1D2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91F34D-B135-0B3A-3529-DF650B42F895}"/>
              </a:ext>
            </a:extLst>
          </p:cNvPr>
          <p:cNvSpPr txBox="1"/>
          <p:nvPr/>
        </p:nvSpPr>
        <p:spPr>
          <a:xfrm>
            <a:off x="736600" y="6019800"/>
            <a:ext cx="7366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000" b="1">
                <a:solidFill>
                  <a:srgbClr val="B26F49"/>
                </a:solidFill>
                <a:latin typeface="Aptos" panose="020B0004020202020204" pitchFamily="34" charset="0"/>
              </a:rPr>
              <a:t>SIAP DIPRESENTASIKAN SEBAGAI PENGALAMAN WELLBEING YANG MODERN, AKTIF, DAN ENGAGING.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70714B-0923-2943-2F9D-59C5013B97F4}"/>
              </a:ext>
            </a:extLst>
          </p:cNvPr>
          <p:cNvCxnSpPr/>
          <p:nvPr/>
        </p:nvCxnSpPr>
        <p:spPr>
          <a:xfrm>
            <a:off x="660400" y="6502400"/>
            <a:ext cx="10871200" cy="0"/>
          </a:xfrm>
          <a:prstGeom prst="line">
            <a:avLst/>
          </a:prstGeom>
          <a:ln w="12700" cap="flat" cmpd="sng" algn="ctr">
            <a:solidFill>
              <a:srgbClr val="C2B8AB">
                <a:alpha val="82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ABBBA5-D7B8-9834-58F0-8D02CF16FF4B}"/>
              </a:ext>
            </a:extLst>
          </p:cNvPr>
          <p:cNvSpPr txBox="1"/>
          <p:nvPr/>
        </p:nvSpPr>
        <p:spPr>
          <a:xfrm>
            <a:off x="660400" y="65532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900" b="1">
                <a:solidFill>
                  <a:srgbClr val="635C55"/>
                </a:solidFill>
                <a:latin typeface="Georgia" panose="02040502050405020303" pitchFamily="18" charset="0"/>
              </a:rPr>
              <a:t>Welbeing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B3FA03-20AE-1D4D-1903-96BF9CB385A6}"/>
              </a:ext>
            </a:extLst>
          </p:cNvPr>
          <p:cNvSpPr txBox="1"/>
          <p:nvPr/>
        </p:nvSpPr>
        <p:spPr>
          <a:xfrm>
            <a:off x="10998200" y="65278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sz="1000" b="1">
                <a:solidFill>
                  <a:srgbClr val="635C55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96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Microsoft Office PowerPoint</Application>
  <PresentationFormat>Custom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Pramuji WG</dc:creator>
  <cp:lastModifiedBy>Pramuji WG</cp:lastModifiedBy>
  <cp:revision>1</cp:revision>
  <dcterms:created xsi:type="dcterms:W3CDTF">2026-04-08T03:13:18Z</dcterms:created>
  <dcterms:modified xsi:type="dcterms:W3CDTF">2026-04-08T03:13:18Z</dcterms:modified>
</cp:coreProperties>
</file>