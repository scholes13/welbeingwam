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D9CB-3C91-EAD9-5363-8206507F5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2973D-D9B5-B45C-1A44-6CC2DD4A1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A23E0-BD7B-23E1-410A-68F9080C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5B578-A966-4952-71EF-1C7E3DE6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126FC-1350-EC92-C2AF-521DB942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1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695E2-BA0E-61E5-33A7-F8D565A4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36C5B-6109-746C-B7AC-4B839205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F60BA-AD5D-4F19-9FBA-291B8529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FB199-EE27-4857-AEAA-D4CD5B1E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A6F7-8C5D-CEF1-FDDE-2C04AD4E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8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3D92-EA82-7362-3B86-491270E6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309E3-0E2A-3869-BF41-319068FAE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2B0ED-8C0C-15F0-9E75-71394300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AADEA-6E4C-718C-A389-DF07A9F1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C8227-F96A-2181-B481-B9DEFCB9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1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C385-381C-8B8C-3DE1-F3C535CB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0C9C-2790-2011-3ACC-98CB232B2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D77B8-A3C3-615A-614A-CB1990F7D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8D3A8-94BE-6839-1A2E-43556D19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AA2FB-E46F-7067-BF1F-AAE45C9F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F9DBD-FC93-2A43-F40E-24F8B216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3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A78C-5CBB-7757-6311-E860E645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2C726-C854-AB04-43F5-62F1FED49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6AFCB-58F0-AEFF-38F0-77C498DBB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33D8CB-3C40-BC90-9CA1-AA5968EF4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AF3A9-B8AA-C7E6-C616-A67EF2A05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B50D0-9918-F6DF-64E1-89402501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D9319-EFAB-3B5C-D7AB-3C1B16DB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B2DE7-4955-7A9F-7D56-32FA0480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2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A091-8C55-7E88-A9B3-B2E3F735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5FD5C-1DD1-49B3-DDA2-812D3DA1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0F8FC-BA3A-F0AD-1345-257B93DD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A9CEE-CF8A-ADB1-CBEF-6F88053C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3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3EBEF-8CD9-1B8C-B5A1-BCF84F4B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28EBF-AED2-C143-35DE-670FE223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4C085-C23D-AB20-B584-CDFB57BF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9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0FDE-46CE-252E-97A7-FFFE3B3D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4086-9E10-D60C-278D-A33773DDD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DC2F2-9F71-3F60-AFB6-C64DD5695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A4A7F-DF49-1630-DC5A-21137793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CF46E-746F-2741-0396-0FAC596E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4531A-6303-8B86-BEC0-053B1ED9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7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7A7E-AFCA-58AF-8C49-79ECCBB3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33C3A-6322-84F3-2979-CA0C22ACE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E1734-369F-B3BF-13FC-3CB5EB401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01658-3661-CF5C-4BDA-2A923CBE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C6170-5352-97B7-062C-E4054BB1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16866-EBAB-2176-7A44-4D9D0054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60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5DB1-1064-E55D-386C-7B58BEE0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74F5A-5E71-4FB2-5071-6A8882128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2D5A3-BEB9-9890-D61B-54927588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33F-7F84-EA87-4385-63565470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92733-4165-2CA8-B90F-A7CDD45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7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D2AA0-6B5E-FF19-E4EA-FB685EA86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6C0B1-7679-18AB-1022-731035D70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0E28-D9CA-B97B-99E3-90A17D40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069FA-DD24-C4A5-2ACC-56C19903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2A8D0-DEFB-5EA8-E9C6-0674CD61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0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A745B-7AE5-F13A-ABB9-F8B606C4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3C9EB-71AD-2E15-DF5A-A053EB085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AD9E0-1147-93F7-AE18-9ABF5E85B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E388F-A878-471C-BC6F-C076ECD908E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F3BC9-324B-C086-82F7-9FC9181E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4A2C4-1BE1-52EE-9078-F02E679CA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4DD8-394E-4557-8633-B381247C4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8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13BB7C-4BC1-2A65-0294-AD42B3EF87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A"/>
          </a:solidFill>
          <a:ln w="12700" cap="flat" cmpd="sng" algn="ctr">
            <a:solidFill>
              <a:srgbClr val="F6F1E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5959B5-7F2F-FA7C-151D-F7635F2C3399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ED5C9">
              <a:alpha val="90000"/>
            </a:srgbClr>
          </a:solidFill>
          <a:ln w="12700" cap="flat" cmpd="sng" algn="ctr">
            <a:solidFill>
              <a:srgbClr val="DED5C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59300-C7A8-9075-1038-E13CB20A2CB3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F54B3-38FB-CA34-EAAB-2AC97E4D2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300" y="1068164"/>
            <a:ext cx="491400" cy="3274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F4E9CA-1FA3-7158-14F2-1B959EE17BE0}"/>
              </a:ext>
            </a:extLst>
          </p:cNvPr>
          <p:cNvSpPr/>
          <p:nvPr/>
        </p:nvSpPr>
        <p:spPr>
          <a:xfrm>
            <a:off x="8915400" y="482600"/>
            <a:ext cx="2489200" cy="1498600"/>
          </a:xfrm>
          <a:prstGeom prst="rect">
            <a:avLst/>
          </a:prstGeom>
          <a:solidFill>
            <a:srgbClr val="1C1D21">
              <a:alpha val="58000"/>
            </a:srgbClr>
          </a:solidFill>
          <a:ln w="1016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2D880A-A202-629C-8B59-46F31C77D5A3}"/>
              </a:ext>
            </a:extLst>
          </p:cNvPr>
          <p:cNvCxnSpPr/>
          <p:nvPr/>
        </p:nvCxnSpPr>
        <p:spPr>
          <a:xfrm>
            <a:off x="736600" y="736600"/>
            <a:ext cx="1625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AB3408-D58A-FC42-C8AF-A89FF167FD0F}"/>
              </a:ext>
            </a:extLst>
          </p:cNvPr>
          <p:cNvSpPr txBox="1"/>
          <p:nvPr/>
        </p:nvSpPr>
        <p:spPr>
          <a:xfrm>
            <a:off x="7366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PLATFORM WELLBEING BERBASIS GAMIFIKASI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19A46-9693-E113-B7C6-4B848510AEDB}"/>
              </a:ext>
            </a:extLst>
          </p:cNvPr>
          <p:cNvSpPr txBox="1"/>
          <p:nvPr/>
        </p:nvSpPr>
        <p:spPr>
          <a:xfrm>
            <a:off x="736600" y="1727200"/>
            <a:ext cx="3302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4000" b="1">
                <a:solidFill>
                  <a:srgbClr val="1C1D21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33057-A878-3B98-6684-A09C66C272CF}"/>
              </a:ext>
            </a:extLst>
          </p:cNvPr>
          <p:cNvSpPr txBox="1"/>
          <p:nvPr/>
        </p:nvSpPr>
        <p:spPr>
          <a:xfrm>
            <a:off x="736600" y="2692400"/>
            <a:ext cx="4241800" cy="8617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C1D21"/>
                </a:solidFill>
                <a:latin typeface="Georgia" panose="02040502050405020303" pitchFamily="18" charset="0"/>
              </a:rPr>
              <a:t>Wellbeing yang lebih engaging.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5B673-2737-3348-9437-58BDEE1D0221}"/>
              </a:ext>
            </a:extLst>
          </p:cNvPr>
          <p:cNvSpPr txBox="1"/>
          <p:nvPr/>
        </p:nvSpPr>
        <p:spPr>
          <a:xfrm>
            <a:off x="736600" y="3911600"/>
            <a:ext cx="3810000" cy="9848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635C55"/>
                </a:solidFill>
                <a:latin typeface="Aptos" panose="020B0004020202020204" pitchFamily="34" charset="0"/>
              </a:rPr>
              <a:t>Platform wellbeing yang menggabungkan progress harian, aktivitas olahraga, quiz, dan motivasi dalam satu pengalaman yang terasa ringan dipakai.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6FEE13-C371-EBD1-9C28-C9F51BC43039}"/>
              </a:ext>
            </a:extLst>
          </p:cNvPr>
          <p:cNvSpPr/>
          <p:nvPr/>
        </p:nvSpPr>
        <p:spPr>
          <a:xfrm>
            <a:off x="736600" y="5257800"/>
            <a:ext cx="108966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4424AE-1D38-7807-834A-D499F0AF801E}"/>
              </a:ext>
            </a:extLst>
          </p:cNvPr>
          <p:cNvSpPr txBox="1"/>
          <p:nvPr/>
        </p:nvSpPr>
        <p:spPr>
          <a:xfrm>
            <a:off x="889000" y="5321300"/>
            <a:ext cx="7848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E21230-C3CE-A79A-2841-6A376E209153}"/>
              </a:ext>
            </a:extLst>
          </p:cNvPr>
          <p:cNvSpPr/>
          <p:nvPr/>
        </p:nvSpPr>
        <p:spPr>
          <a:xfrm>
            <a:off x="1953260" y="5257800"/>
            <a:ext cx="85344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016DBA-7C9F-D73A-BB5F-D45EC4117D18}"/>
              </a:ext>
            </a:extLst>
          </p:cNvPr>
          <p:cNvSpPr txBox="1"/>
          <p:nvPr/>
        </p:nvSpPr>
        <p:spPr>
          <a:xfrm>
            <a:off x="2105660" y="5321300"/>
            <a:ext cx="54864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Strava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0DC2CE-882D-5D4C-E881-A505CC6F086E}"/>
              </a:ext>
            </a:extLst>
          </p:cNvPr>
          <p:cNvSpPr/>
          <p:nvPr/>
        </p:nvSpPr>
        <p:spPr>
          <a:xfrm>
            <a:off x="2933700" y="5257800"/>
            <a:ext cx="69596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4407C-A352-90AC-6FAA-52DD3B8B1B34}"/>
              </a:ext>
            </a:extLst>
          </p:cNvPr>
          <p:cNvSpPr txBox="1"/>
          <p:nvPr/>
        </p:nvSpPr>
        <p:spPr>
          <a:xfrm>
            <a:off x="3086100" y="5321300"/>
            <a:ext cx="3911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Quiz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C04762-0032-07D8-97FD-B0D39C706C6F}"/>
              </a:ext>
            </a:extLst>
          </p:cNvPr>
          <p:cNvSpPr/>
          <p:nvPr/>
        </p:nvSpPr>
        <p:spPr>
          <a:xfrm>
            <a:off x="3756660" y="5257800"/>
            <a:ext cx="124714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EA0814-0E59-9BAB-FE46-9C63A0A2E56B}"/>
              </a:ext>
            </a:extLst>
          </p:cNvPr>
          <p:cNvSpPr txBox="1"/>
          <p:nvPr/>
        </p:nvSpPr>
        <p:spPr>
          <a:xfrm>
            <a:off x="3909060" y="5321300"/>
            <a:ext cx="94234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Leaderboard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CB97D3-C0AE-1546-47AD-827AD776819D}"/>
              </a:ext>
            </a:extLst>
          </p:cNvPr>
          <p:cNvSpPr/>
          <p:nvPr/>
        </p:nvSpPr>
        <p:spPr>
          <a:xfrm>
            <a:off x="5130800" y="5257800"/>
            <a:ext cx="77470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1DE275-4E5C-43DF-BF73-FE152B88C139}"/>
              </a:ext>
            </a:extLst>
          </p:cNvPr>
          <p:cNvSpPr txBox="1"/>
          <p:nvPr/>
        </p:nvSpPr>
        <p:spPr>
          <a:xfrm>
            <a:off x="5283200" y="5321300"/>
            <a:ext cx="4699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D0DD1B-7BDE-5AF6-B184-49F7F6F83006}"/>
              </a:ext>
            </a:extLst>
          </p:cNvPr>
          <p:cNvSpPr txBox="1"/>
          <p:nvPr/>
        </p:nvSpPr>
        <p:spPr>
          <a:xfrm>
            <a:off x="736600" y="57658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000" b="1">
                <a:solidFill>
                  <a:srgbClr val="B26F49"/>
                </a:solidFill>
                <a:latin typeface="Aptos" panose="020B0004020202020204" pitchFamily="34" charset="0"/>
              </a:rPr>
              <a:t>PITCH DECK SINGKAT UNTUK USER DAN TIM</a:t>
            </a:r>
            <a:endParaRPr lang="en-US" sz="1000" b="1">
              <a:solidFill>
                <a:srgbClr val="B26F49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2E22BD-5853-775B-D166-757C9E6FE849}"/>
              </a:ext>
            </a:extLst>
          </p:cNvPr>
          <p:cNvSpPr/>
          <p:nvPr/>
        </p:nvSpPr>
        <p:spPr>
          <a:xfrm>
            <a:off x="6273800" y="1727200"/>
            <a:ext cx="4445000" cy="34290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411B14-FEAB-C4DC-7ADC-37BDADE170AD}"/>
              </a:ext>
            </a:extLst>
          </p:cNvPr>
          <p:cNvSpPr/>
          <p:nvPr/>
        </p:nvSpPr>
        <p:spPr>
          <a:xfrm>
            <a:off x="5943600" y="1371600"/>
            <a:ext cx="4749800" cy="3733800"/>
          </a:xfrm>
          <a:prstGeom prst="roundRect">
            <a:avLst/>
          </a:prstGeom>
          <a:solidFill>
            <a:srgbClr val="DED5C9">
              <a:alpha val="92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0DECE78-3810-B7FB-A495-E08914AD67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634" y="1218395"/>
            <a:ext cx="3411733" cy="4040210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C1D991-5D2B-FCC5-2512-4D145873673E}"/>
              </a:ext>
            </a:extLst>
          </p:cNvPr>
          <p:cNvCxnSpPr/>
          <p:nvPr/>
        </p:nvCxnSpPr>
        <p:spPr>
          <a:xfrm>
            <a:off x="5664200" y="1422400"/>
            <a:ext cx="0" cy="3606800"/>
          </a:xfrm>
          <a:prstGeom prst="line">
            <a:avLst/>
          </a:prstGeom>
          <a:ln w="38100" cap="flat" cmpd="sng" algn="ctr">
            <a:solidFill>
              <a:srgbClr val="B26F49">
                <a:alpha val="9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F904EB3-6144-4597-25C2-9411BEDE69B9}"/>
              </a:ext>
            </a:extLst>
          </p:cNvPr>
          <p:cNvSpPr txBox="1"/>
          <p:nvPr/>
        </p:nvSpPr>
        <p:spPr>
          <a:xfrm>
            <a:off x="6096000" y="5283200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635C55"/>
                </a:solidFill>
                <a:latin typeface="Aptos" panose="020B0004020202020204" pitchFamily="34" charset="0"/>
              </a:rPr>
              <a:t>Dashboard sebagai pusat cerita produk.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71FD5-E59E-8588-AA7C-91162E220207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3EFBC93-52D7-0F98-0CAA-83D86F3769FF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9924A8-9FA4-E5CA-C469-69409A141807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1789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56C96C-7DA1-E15C-7F1A-12A1D6D1AA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B31"/>
          </a:solidFill>
          <a:ln w="12700" cap="flat" cmpd="sng" algn="ctr">
            <a:solidFill>
              <a:srgbClr val="282B3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F0F2C1-1ECE-969C-6CB5-2CC35200846D}"/>
              </a:ext>
            </a:extLst>
          </p:cNvPr>
          <p:cNvSpPr/>
          <p:nvPr/>
        </p:nvSpPr>
        <p:spPr>
          <a:xfrm>
            <a:off x="0" y="4724400"/>
            <a:ext cx="12192000" cy="2133600"/>
          </a:xfrm>
          <a:prstGeom prst="rect">
            <a:avLst/>
          </a:prstGeom>
          <a:solidFill>
            <a:srgbClr val="1C1D21">
              <a:alpha val="8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23D2A-A44E-44FB-1F8D-9A298F776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356" y="1299210"/>
            <a:ext cx="560289" cy="3733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BB1C80-5D79-31A8-866B-6914FB228138}"/>
              </a:ext>
            </a:extLst>
          </p:cNvPr>
          <p:cNvSpPr/>
          <p:nvPr/>
        </p:nvSpPr>
        <p:spPr>
          <a:xfrm>
            <a:off x="8128000" y="685800"/>
            <a:ext cx="2921000" cy="1600200"/>
          </a:xfrm>
          <a:prstGeom prst="rect">
            <a:avLst/>
          </a:prstGeom>
          <a:solidFill>
            <a:srgbClr val="1C1D21">
              <a:alpha val="54000"/>
            </a:srgbClr>
          </a:solidFill>
          <a:ln w="10160" cap="flat" cmpd="sng" algn="ctr">
            <a:solidFill>
              <a:srgbClr val="FAF8F4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F7D384-B5F8-D083-DE06-81A09B5C81BA}"/>
              </a:ext>
            </a:extLst>
          </p:cNvPr>
          <p:cNvCxnSpPr/>
          <p:nvPr/>
        </p:nvCxnSpPr>
        <p:spPr>
          <a:xfrm>
            <a:off x="736600" y="736600"/>
            <a:ext cx="13208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191453B-DBFD-24E0-9D17-3AB9CEB264FC}"/>
              </a:ext>
            </a:extLst>
          </p:cNvPr>
          <p:cNvSpPr txBox="1"/>
          <p:nvPr/>
        </p:nvSpPr>
        <p:spPr>
          <a:xfrm>
            <a:off x="7366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APLIKASI INI APA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A6960-69E1-399D-F0D6-92702F6E4314}"/>
              </a:ext>
            </a:extLst>
          </p:cNvPr>
          <p:cNvSpPr txBox="1"/>
          <p:nvPr/>
        </p:nvSpPr>
        <p:spPr>
          <a:xfrm>
            <a:off x="736600" y="1752600"/>
            <a:ext cx="5334000" cy="143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100" b="1">
                <a:solidFill>
                  <a:srgbClr val="FAF8F4"/>
                </a:solidFill>
                <a:latin typeface="Georgia" panose="02040502050405020303" pitchFamily="18" charset="0"/>
              </a:rPr>
              <a:t>Satu ruang untuk aktivitas sehat, insight, dan motivasi.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25AEEE-09EB-BF15-5A00-69FB62FFE4E5}"/>
              </a:ext>
            </a:extLst>
          </p:cNvPr>
          <p:cNvSpPr txBox="1"/>
          <p:nvPr/>
        </p:nvSpPr>
        <p:spPr>
          <a:xfrm>
            <a:off x="736600" y="3429000"/>
            <a:ext cx="4826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D6D0C7"/>
                </a:solidFill>
                <a:latin typeface="Aptos" panose="020B0004020202020204" pitchFamily="34" charset="0"/>
              </a:rPr>
              <a:t>Welbeing menyatukan tracking aktivitas, quiz, dan reward dalam satu alur yang mudah dipakai setiap hari.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05FE5F-FD97-DF91-A2AF-7B45C1BC9F12}"/>
              </a:ext>
            </a:extLst>
          </p:cNvPr>
          <p:cNvCxnSpPr/>
          <p:nvPr/>
        </p:nvCxnSpPr>
        <p:spPr>
          <a:xfrm>
            <a:off x="736600" y="4470400"/>
            <a:ext cx="10388600" cy="0"/>
          </a:xfrm>
          <a:prstGeom prst="line">
            <a:avLst/>
          </a:prstGeom>
          <a:ln w="13970" cap="flat" cmpd="sng" algn="ctr">
            <a:solidFill>
              <a:srgbClr val="6F7378">
                <a:alpha val="8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40086F-394C-98F4-0068-78F053C455CE}"/>
              </a:ext>
            </a:extLst>
          </p:cNvPr>
          <p:cNvSpPr txBox="1"/>
          <p:nvPr/>
        </p:nvSpPr>
        <p:spPr>
          <a:xfrm>
            <a:off x="736600" y="4927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B26F49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AA706-D2C1-51E4-2B76-42A6D0B8817B}"/>
              </a:ext>
            </a:extLst>
          </p:cNvPr>
          <p:cNvSpPr txBox="1"/>
          <p:nvPr/>
        </p:nvSpPr>
        <p:spPr>
          <a:xfrm>
            <a:off x="736600" y="5283200"/>
            <a:ext cx="26924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FAF8F4"/>
                </a:solidFill>
                <a:latin typeface="Aptos" panose="020B0004020202020204" pitchFamily="34" charset="0"/>
              </a:rPr>
              <a:t>Progress wellbeing terlihat dari satu dashboard.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85954-6750-AB53-3A1B-2A99B4752BF3}"/>
              </a:ext>
            </a:extLst>
          </p:cNvPr>
          <p:cNvSpPr txBox="1"/>
          <p:nvPr/>
        </p:nvSpPr>
        <p:spPr>
          <a:xfrm>
            <a:off x="736600" y="59690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Aptos" panose="020B0004020202020204" pitchFamily="34" charset="0"/>
              </a:rPr>
              <a:t>Aktivitas Tercatat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FE5424-05BD-E112-756B-C670A47C2C19}"/>
              </a:ext>
            </a:extLst>
          </p:cNvPr>
          <p:cNvSpPr txBox="1"/>
          <p:nvPr/>
        </p:nvSpPr>
        <p:spPr>
          <a:xfrm>
            <a:off x="4038600" y="4927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B26F49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FB5FF-13D8-D651-BAE3-ED40448ED516}"/>
              </a:ext>
            </a:extLst>
          </p:cNvPr>
          <p:cNvSpPr txBox="1"/>
          <p:nvPr/>
        </p:nvSpPr>
        <p:spPr>
          <a:xfrm>
            <a:off x="4038600" y="5283200"/>
            <a:ext cx="2692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300">
                <a:solidFill>
                  <a:srgbClr val="FAF8F4"/>
                </a:solidFill>
                <a:latin typeface="Aptos" panose="020B0004020202020204" pitchFamily="34" charset="0"/>
              </a:rPr>
              <a:t>Aktivitas sehat terasa lebih engaging.</a:t>
            </a:r>
            <a:endParaRPr lang="en-US" sz="1300">
              <a:solidFill>
                <a:srgbClr val="FAF8F4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ACD5DC-340C-F8E5-1615-3F96C15E6AC9}"/>
              </a:ext>
            </a:extLst>
          </p:cNvPr>
          <p:cNvSpPr txBox="1"/>
          <p:nvPr/>
        </p:nvSpPr>
        <p:spPr>
          <a:xfrm>
            <a:off x="4038600" y="59690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Aptos" panose="020B0004020202020204" pitchFamily="34" charset="0"/>
              </a:rPr>
              <a:t>Quiz Interaktif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7F9CEA-BB47-E669-9C47-D1A50126ED59}"/>
              </a:ext>
            </a:extLst>
          </p:cNvPr>
          <p:cNvSpPr txBox="1"/>
          <p:nvPr/>
        </p:nvSpPr>
        <p:spPr>
          <a:xfrm>
            <a:off x="7340600" y="4927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B26F49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3DF13F-BFF4-69A5-F8F6-6EB66677850A}"/>
              </a:ext>
            </a:extLst>
          </p:cNvPr>
          <p:cNvSpPr txBox="1"/>
          <p:nvPr/>
        </p:nvSpPr>
        <p:spPr>
          <a:xfrm>
            <a:off x="7340600" y="5283200"/>
            <a:ext cx="26924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FAF8F4"/>
                </a:solidFill>
                <a:latin typeface="Aptos" panose="020B0004020202020204" pitchFamily="34" charset="0"/>
              </a:rPr>
              <a:t>Motivasi dijaga lewat point dan kompetisi sehat.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D7B1AE-BC43-ABBA-FD1E-5F953D874AC5}"/>
              </a:ext>
            </a:extLst>
          </p:cNvPr>
          <p:cNvSpPr txBox="1"/>
          <p:nvPr/>
        </p:nvSpPr>
        <p:spPr>
          <a:xfrm>
            <a:off x="7340600" y="59690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Aptos" panose="020B0004020202020204" pitchFamily="34" charset="0"/>
              </a:rPr>
              <a:t>Progress Lebih Terukur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40F364-0512-D249-9C4F-F3721F22C8C2}"/>
              </a:ext>
            </a:extLst>
          </p:cNvPr>
          <p:cNvSpPr txBox="1"/>
          <p:nvPr/>
        </p:nvSpPr>
        <p:spPr>
          <a:xfrm>
            <a:off x="8128000" y="2616200"/>
            <a:ext cx="2819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Bukan sekadar tracking. Ini pengalaman wellbeing yang lebih mudah diikuti.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87F9DF-25AA-F861-F96F-6E1E2E9072D5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6F7378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7BFE9EA-1CE6-62DB-BE74-20274C6BF85E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A4CA13-89A9-C83A-5597-B42AB5AC87CF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3096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3C956-564E-A831-B8A1-9DA216F443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2A90A-1DFC-2F82-0A77-04150F90D2FA}"/>
              </a:ext>
            </a:extLst>
          </p:cNvPr>
          <p:cNvSpPr/>
          <p:nvPr/>
        </p:nvSpPr>
        <p:spPr>
          <a:xfrm>
            <a:off x="0" y="0"/>
            <a:ext cx="3632200" cy="6858000"/>
          </a:xfrm>
          <a:prstGeom prst="rect">
            <a:avLst/>
          </a:prstGeom>
          <a:solidFill>
            <a:srgbClr val="DED5C9">
              <a:alpha val="82000"/>
            </a:srgbClr>
          </a:solidFill>
          <a:ln w="12700" cap="flat" cmpd="sng" algn="ctr">
            <a:solidFill>
              <a:srgbClr val="DED5C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F7F9E-49C2-B54E-902D-1C7814671890}"/>
              </a:ext>
            </a:extLst>
          </p:cNvPr>
          <p:cNvSpPr/>
          <p:nvPr/>
        </p:nvSpPr>
        <p:spPr>
          <a:xfrm>
            <a:off x="9194800" y="838200"/>
            <a:ext cx="2032000" cy="1574800"/>
          </a:xfrm>
          <a:prstGeom prst="rect">
            <a:avLst/>
          </a:prstGeom>
          <a:solidFill>
            <a:srgbClr val="D6AB8E">
              <a:alpha val="60000"/>
            </a:srgbClr>
          </a:solidFill>
          <a:ln w="12700" cap="flat" cmpd="sng" algn="ctr">
            <a:solidFill>
              <a:srgbClr val="D6AB8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2C608C-A7B0-347C-F76A-F1FC730943BE}"/>
              </a:ext>
            </a:extLst>
          </p:cNvPr>
          <p:cNvCxnSpPr/>
          <p:nvPr/>
        </p:nvCxnSpPr>
        <p:spPr>
          <a:xfrm>
            <a:off x="660400" y="736600"/>
            <a:ext cx="1244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6A6529-3457-3311-B62B-FB55F687BC49}"/>
              </a:ext>
            </a:extLst>
          </p:cNvPr>
          <p:cNvSpPr txBox="1"/>
          <p:nvPr/>
        </p:nvSpPr>
        <p:spPr>
          <a:xfrm>
            <a:off x="6604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CARA MEMULAI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7FB31-30F7-1374-9BBC-989022D11478}"/>
              </a:ext>
            </a:extLst>
          </p:cNvPr>
          <p:cNvSpPr txBox="1"/>
          <p:nvPr/>
        </p:nvSpPr>
        <p:spPr>
          <a:xfrm>
            <a:off x="660400" y="1701800"/>
            <a:ext cx="2413000" cy="1292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C1D21"/>
                </a:solidFill>
                <a:latin typeface="Georgia" panose="02040502050405020303" pitchFamily="18" charset="0"/>
              </a:rPr>
              <a:t>Dashboard menjadi titik mulai.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DE7C7-41B7-1AF7-8D29-29AE745C8A1A}"/>
              </a:ext>
            </a:extLst>
          </p:cNvPr>
          <p:cNvSpPr txBox="1"/>
          <p:nvPr/>
        </p:nvSpPr>
        <p:spPr>
          <a:xfrm>
            <a:off x="660400" y="3200400"/>
            <a:ext cx="24130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50">
                <a:solidFill>
                  <a:srgbClr val="635C55"/>
                </a:solidFill>
                <a:latin typeface="Aptos" panose="020B0004020202020204" pitchFamily="34" charset="0"/>
              </a:rPr>
              <a:t>Pengguna langsung melihat progress, aktivitas, dan pintu masuk ke fitur penting.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A90A5-3C88-C5EF-6236-67DCE28E8517}"/>
              </a:ext>
            </a:extLst>
          </p:cNvPr>
          <p:cNvSpPr txBox="1"/>
          <p:nvPr/>
        </p:nvSpPr>
        <p:spPr>
          <a:xfrm>
            <a:off x="660400" y="44450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F484E-5AC8-3858-8ED1-EEF476AE643C}"/>
              </a:ext>
            </a:extLst>
          </p:cNvPr>
          <p:cNvSpPr txBox="1"/>
          <p:nvPr/>
        </p:nvSpPr>
        <p:spPr>
          <a:xfrm>
            <a:off x="1117600" y="44196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Lihat ringkasan aktivitas dan point.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B200C-4018-8164-1B81-A9BF370CD303}"/>
              </a:ext>
            </a:extLst>
          </p:cNvPr>
          <p:cNvSpPr txBox="1"/>
          <p:nvPr/>
        </p:nvSpPr>
        <p:spPr>
          <a:xfrm>
            <a:off x="660400" y="49276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42557E-B54C-4524-EC51-191A43CD318E}"/>
              </a:ext>
            </a:extLst>
          </p:cNvPr>
          <p:cNvSpPr txBox="1"/>
          <p:nvPr/>
        </p:nvSpPr>
        <p:spPr>
          <a:xfrm>
            <a:off x="1117600" y="49022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Pantau progress harian dengan cepat.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A7888-BDEE-AF75-4E7E-97135D898C6F}"/>
              </a:ext>
            </a:extLst>
          </p:cNvPr>
          <p:cNvSpPr txBox="1"/>
          <p:nvPr/>
        </p:nvSpPr>
        <p:spPr>
          <a:xfrm>
            <a:off x="660400" y="54102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73E492-D3EB-7B83-28F6-32154A6365EC}"/>
              </a:ext>
            </a:extLst>
          </p:cNvPr>
          <p:cNvSpPr txBox="1"/>
          <p:nvPr/>
        </p:nvSpPr>
        <p:spPr>
          <a:xfrm>
            <a:off x="1117600" y="53848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Masuk ke quiz, leaderboard, atau fitur lain dari satu tempat.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357D3-A3DC-5EF3-3D56-ABB33D853026}"/>
              </a:ext>
            </a:extLst>
          </p:cNvPr>
          <p:cNvSpPr txBox="1"/>
          <p:nvPr/>
        </p:nvSpPr>
        <p:spPr>
          <a:xfrm>
            <a:off x="660400" y="58928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70E7E-B070-C943-1C3D-693604018523}"/>
              </a:ext>
            </a:extLst>
          </p:cNvPr>
          <p:cNvSpPr txBox="1"/>
          <p:nvPr/>
        </p:nvSpPr>
        <p:spPr>
          <a:xfrm>
            <a:off x="1117600" y="58674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Kembali ke dashboard untuk kontrol harian.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E4DDD-A7F5-1FAA-CFB2-3E27852A2768}"/>
              </a:ext>
            </a:extLst>
          </p:cNvPr>
          <p:cNvSpPr txBox="1"/>
          <p:nvPr/>
        </p:nvSpPr>
        <p:spPr>
          <a:xfrm>
            <a:off x="4191000" y="863600"/>
            <a:ext cx="152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B26F49"/>
                </a:solidFill>
                <a:latin typeface="Aptos" panose="020B0004020202020204" pitchFamily="34" charset="0"/>
              </a:rPr>
              <a:t>Dashboard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B1675-CE25-0FAE-2470-8B83D200D9DB}"/>
              </a:ext>
            </a:extLst>
          </p:cNvPr>
          <p:cNvSpPr txBox="1"/>
          <p:nvPr/>
        </p:nvSpPr>
        <p:spPr>
          <a:xfrm>
            <a:off x="4191000" y="1168400"/>
            <a:ext cx="330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635C55"/>
                </a:solidFill>
                <a:latin typeface="Aptos" panose="020B0004020202020204" pitchFamily="34" charset="0"/>
              </a:rPr>
              <a:t>Satu layar yang langsung menjelaskan progress pengguna.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16156-076B-27C4-33F1-617EEC32EC7E}"/>
              </a:ext>
            </a:extLst>
          </p:cNvPr>
          <p:cNvSpPr/>
          <p:nvPr/>
        </p:nvSpPr>
        <p:spPr>
          <a:xfrm>
            <a:off x="4368800" y="1803400"/>
            <a:ext cx="5969000" cy="39116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2D0F915-A1A9-6568-3BDB-07A7996821B1}"/>
              </a:ext>
            </a:extLst>
          </p:cNvPr>
          <p:cNvSpPr/>
          <p:nvPr/>
        </p:nvSpPr>
        <p:spPr>
          <a:xfrm>
            <a:off x="4038600" y="1447800"/>
            <a:ext cx="6273800" cy="4216400"/>
          </a:xfrm>
          <a:prstGeom prst="roundRect">
            <a:avLst/>
          </a:prstGeom>
          <a:solidFill>
            <a:srgbClr val="FAF8F4">
              <a:alpha val="95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CFFF8A-D7BE-B4FD-1F12-7592D57F3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371" y="-86785"/>
            <a:ext cx="6152259" cy="7285570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B8499B-0006-86B0-5A03-FFD41CDC11EF}"/>
              </a:ext>
            </a:extLst>
          </p:cNvPr>
          <p:cNvSpPr/>
          <p:nvPr/>
        </p:nvSpPr>
        <p:spPr>
          <a:xfrm>
            <a:off x="9296400" y="1041400"/>
            <a:ext cx="1803400" cy="1092200"/>
          </a:xfrm>
          <a:prstGeom prst="roundRect">
            <a:avLst/>
          </a:prstGeom>
          <a:solidFill>
            <a:srgbClr val="1C1D21">
              <a:alpha val="94000"/>
            </a:srgbClr>
          </a:solidFill>
          <a:ln w="10160" cap="flat" cmpd="sng" algn="ctr">
            <a:solidFill>
              <a:srgbClr val="1C1D21">
                <a:alpha val="1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B1F60-EF95-24D0-6909-6ACD743B39E0}"/>
              </a:ext>
            </a:extLst>
          </p:cNvPr>
          <p:cNvSpPr txBox="1"/>
          <p:nvPr/>
        </p:nvSpPr>
        <p:spPr>
          <a:xfrm>
            <a:off x="9499600" y="1244600"/>
            <a:ext cx="1371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Lihat activity, point, dan akses fitur utama tanpa berpindah banyak halaman.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DD2978-F868-3C91-7551-65BB2BB5DE55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9052776-7806-5BFC-07D9-E8E9ACCE3150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3AECB6-4A88-67C2-FAE0-37D3C1530C88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508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790EA-8F04-6F39-F9DE-07E8F2A1A7E2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solidFill>
            <a:srgbClr val="B26F49">
              <a:alpha val="98000"/>
            </a:srgbClr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A8D086-1C2B-571A-E6E7-2B7801D20A99}"/>
              </a:ext>
            </a:extLst>
          </p:cNvPr>
          <p:cNvSpPr/>
          <p:nvPr/>
        </p:nvSpPr>
        <p:spPr>
          <a:xfrm>
            <a:off x="5105400" y="0"/>
            <a:ext cx="7086600" cy="6858000"/>
          </a:xfrm>
          <a:prstGeom prst="rect">
            <a:avLst/>
          </a:prstGeom>
          <a:solidFill>
            <a:srgbClr val="F6F1EA"/>
          </a:solidFill>
          <a:ln w="12700" cap="flat" cmpd="sng" algn="ctr">
            <a:solidFill>
              <a:srgbClr val="F6F1E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3C0E70-3ED9-0EDA-A04E-AFB093316DFA}"/>
              </a:ext>
            </a:extLst>
          </p:cNvPr>
          <p:cNvSpPr/>
          <p:nvPr/>
        </p:nvSpPr>
        <p:spPr>
          <a:xfrm>
            <a:off x="685800" y="4064000"/>
            <a:ext cx="3149600" cy="1981200"/>
          </a:xfrm>
          <a:prstGeom prst="roundRect">
            <a:avLst/>
          </a:prstGeom>
          <a:solidFill>
            <a:srgbClr val="1C1D21">
              <a:alpha val="88000"/>
            </a:srgbClr>
          </a:solidFill>
          <a:ln w="10160" cap="flat" cmpd="sng" algn="ctr">
            <a:solidFill>
              <a:srgbClr val="FAF8F4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AFBCA9-8AC6-30D5-DC2F-53E471610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553" y="4873789"/>
            <a:ext cx="508095" cy="36162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2F1C43-C86C-9933-5026-9792253D62E2}"/>
              </a:ext>
            </a:extLst>
          </p:cNvPr>
          <p:cNvCxnSpPr/>
          <p:nvPr/>
        </p:nvCxnSpPr>
        <p:spPr>
          <a:xfrm>
            <a:off x="685800" y="736600"/>
            <a:ext cx="13208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5BFC1C-1AC2-89C9-DBCF-5ECCB50B6996}"/>
              </a:ext>
            </a:extLst>
          </p:cNvPr>
          <p:cNvSpPr txBox="1"/>
          <p:nvPr/>
        </p:nvSpPr>
        <p:spPr>
          <a:xfrm>
            <a:off x="6858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INTEGRASI STRAVA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44B70-BDA6-F3D1-2CC5-5CCEEB33324D}"/>
              </a:ext>
            </a:extLst>
          </p:cNvPr>
          <p:cNvSpPr txBox="1"/>
          <p:nvPr/>
        </p:nvSpPr>
        <p:spPr>
          <a:xfrm>
            <a:off x="685800" y="1676400"/>
            <a:ext cx="3429000" cy="13388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900" b="1">
                <a:solidFill>
                  <a:srgbClr val="FAF8F4"/>
                </a:solidFill>
                <a:latin typeface="Georgia" panose="02040502050405020303" pitchFamily="18" charset="0"/>
              </a:rPr>
              <a:t>Strava tersambung ke alur wellbeing.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6F6-AB1A-B07B-5D64-F738271951C5}"/>
              </a:ext>
            </a:extLst>
          </p:cNvPr>
          <p:cNvSpPr txBox="1"/>
          <p:nvPr/>
        </p:nvSpPr>
        <p:spPr>
          <a:xfrm>
            <a:off x="685800" y="3098800"/>
            <a:ext cx="36322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50">
                <a:solidFill>
                  <a:srgbClr val="FAF8F4"/>
                </a:solidFill>
                <a:latin typeface="Aptos" panose="020B0004020202020204" pitchFamily="34" charset="0"/>
              </a:rPr>
              <a:t>Aktivitas olahraga dapat ikut tercatat tanpa membuat pengguna pindah alur dari kebiasaan sehat hariannya.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61DE5D-477F-7E91-8F81-2055E338ED75}"/>
              </a:ext>
            </a:extLst>
          </p:cNvPr>
          <p:cNvSpPr/>
          <p:nvPr/>
        </p:nvSpPr>
        <p:spPr>
          <a:xfrm>
            <a:off x="5461000" y="52578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A4F5F-F1BF-8A3A-330E-319141CF056D}"/>
              </a:ext>
            </a:extLst>
          </p:cNvPr>
          <p:cNvSpPr txBox="1"/>
          <p:nvPr/>
        </p:nvSpPr>
        <p:spPr>
          <a:xfrm>
            <a:off x="5689600" y="5181600"/>
            <a:ext cx="33020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1C1D21"/>
                </a:solidFill>
                <a:latin typeface="Aptos" panose="020B0004020202020204" pitchFamily="34" charset="0"/>
              </a:rPr>
              <a:t>Hubungkan akun Strava dari area integrasi.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E1D46C-F52B-BAD0-C834-7CB7EFA2AAA6}"/>
              </a:ext>
            </a:extLst>
          </p:cNvPr>
          <p:cNvSpPr/>
          <p:nvPr/>
        </p:nvSpPr>
        <p:spPr>
          <a:xfrm>
            <a:off x="5461000" y="56642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628BB-C639-18E1-8453-71F06E342ADB}"/>
              </a:ext>
            </a:extLst>
          </p:cNvPr>
          <p:cNvSpPr txBox="1"/>
          <p:nvPr/>
        </p:nvSpPr>
        <p:spPr>
          <a:xfrm>
            <a:off x="5689600" y="55880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1C1D21"/>
                </a:solidFill>
                <a:latin typeface="Aptos" panose="020B0004020202020204" pitchFamily="34" charset="0"/>
              </a:rPr>
              <a:t>Sinkronisasi membantu membawa data aktivitas ke aplikasi.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8323A3-4F51-E285-DCB7-75947C817237}"/>
              </a:ext>
            </a:extLst>
          </p:cNvPr>
          <p:cNvSpPr/>
          <p:nvPr/>
        </p:nvSpPr>
        <p:spPr>
          <a:xfrm>
            <a:off x="5461000" y="60706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035E9-B014-2F5B-C308-F44750F3BCD3}"/>
              </a:ext>
            </a:extLst>
          </p:cNvPr>
          <p:cNvSpPr txBox="1"/>
          <p:nvPr/>
        </p:nvSpPr>
        <p:spPr>
          <a:xfrm>
            <a:off x="5689600" y="5994400"/>
            <a:ext cx="3302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1C1D21"/>
                </a:solidFill>
                <a:latin typeface="Aptos" panose="020B0004020202020204" pitchFamily="34" charset="0"/>
              </a:rPr>
              <a:t>Aktivitas yang masuk ikut mendukung progress dan point.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73F409-A152-82E5-273D-B1767174D7F8}"/>
              </a:ext>
            </a:extLst>
          </p:cNvPr>
          <p:cNvSpPr txBox="1"/>
          <p:nvPr/>
        </p:nvSpPr>
        <p:spPr>
          <a:xfrm>
            <a:off x="5461000" y="914400"/>
            <a:ext cx="152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B26F49"/>
                </a:solidFill>
                <a:latin typeface="Aptos" panose="020B0004020202020204" pitchFamily="34" charset="0"/>
              </a:rPr>
              <a:t>Integrasi 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6FB442-F9E8-070D-38BF-3CB8E50E9C80}"/>
              </a:ext>
            </a:extLst>
          </p:cNvPr>
          <p:cNvSpPr/>
          <p:nvPr/>
        </p:nvSpPr>
        <p:spPr>
          <a:xfrm>
            <a:off x="5638800" y="1549400"/>
            <a:ext cx="4241800" cy="31242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B29122-DEDD-6301-47CC-D70693262A17}"/>
              </a:ext>
            </a:extLst>
          </p:cNvPr>
          <p:cNvSpPr/>
          <p:nvPr/>
        </p:nvSpPr>
        <p:spPr>
          <a:xfrm>
            <a:off x="5308600" y="1193800"/>
            <a:ext cx="4546600" cy="3429000"/>
          </a:xfrm>
          <a:prstGeom prst="roundRect">
            <a:avLst/>
          </a:prstGeom>
          <a:solidFill>
            <a:srgbClr val="DED5C9">
              <a:alpha val="92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6B7550-0F76-2F1F-2D9D-3B9B78345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120" y="1034611"/>
            <a:ext cx="3135560" cy="3747377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7F1F8A6-4AB4-0321-F17C-B08D5355045E}"/>
              </a:ext>
            </a:extLst>
          </p:cNvPr>
          <p:cNvSpPr/>
          <p:nvPr/>
        </p:nvSpPr>
        <p:spPr>
          <a:xfrm>
            <a:off x="5461000" y="4749800"/>
            <a:ext cx="1483360" cy="304800"/>
          </a:xfrm>
          <a:prstGeom prst="roundRect">
            <a:avLst/>
          </a:prstGeom>
          <a:solidFill>
            <a:srgbClr val="D6AB8E">
              <a:alpha val="28000"/>
            </a:srgbClr>
          </a:solidFill>
          <a:ln w="12700" cap="flat" cmpd="sng" algn="ctr">
            <a:solidFill>
              <a:srgbClr val="D6AB8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81A48-7B21-F381-F6F2-80564A4D5A0F}"/>
              </a:ext>
            </a:extLst>
          </p:cNvPr>
          <p:cNvSpPr txBox="1"/>
          <p:nvPr/>
        </p:nvSpPr>
        <p:spPr>
          <a:xfrm>
            <a:off x="5613400" y="4813300"/>
            <a:ext cx="11785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Connect Strava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AC1D06-EE2E-B811-1D4F-97662F7B5E64}"/>
              </a:ext>
            </a:extLst>
          </p:cNvPr>
          <p:cNvSpPr/>
          <p:nvPr/>
        </p:nvSpPr>
        <p:spPr>
          <a:xfrm>
            <a:off x="7071360" y="4749800"/>
            <a:ext cx="1719579" cy="304800"/>
          </a:xfrm>
          <a:prstGeom prst="roundRect">
            <a:avLst/>
          </a:prstGeom>
          <a:solidFill>
            <a:srgbClr val="D6AB8E">
              <a:alpha val="28000"/>
            </a:srgbClr>
          </a:solidFill>
          <a:ln w="12700" cap="flat" cmpd="sng" algn="ctr">
            <a:solidFill>
              <a:srgbClr val="D6AB8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A353D6-1BE2-D812-6ADD-DA13CDC9D2C3}"/>
              </a:ext>
            </a:extLst>
          </p:cNvPr>
          <p:cNvSpPr txBox="1"/>
          <p:nvPr/>
        </p:nvSpPr>
        <p:spPr>
          <a:xfrm>
            <a:off x="7223760" y="4813300"/>
            <a:ext cx="141478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Sinkron Aktivitas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98E88D-2DFB-CA90-24AD-1610374CD845}"/>
              </a:ext>
            </a:extLst>
          </p:cNvPr>
          <p:cNvSpPr/>
          <p:nvPr/>
        </p:nvSpPr>
        <p:spPr>
          <a:xfrm>
            <a:off x="8917940" y="4749800"/>
            <a:ext cx="1483360" cy="304800"/>
          </a:xfrm>
          <a:prstGeom prst="roundRect">
            <a:avLst/>
          </a:prstGeom>
          <a:solidFill>
            <a:srgbClr val="D6AB8E">
              <a:alpha val="28000"/>
            </a:srgbClr>
          </a:solidFill>
          <a:ln w="12700" cap="flat" cmpd="sng" algn="ctr">
            <a:solidFill>
              <a:srgbClr val="D6AB8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2A05CB-2A63-C905-90F1-B2EA004BBD82}"/>
              </a:ext>
            </a:extLst>
          </p:cNvPr>
          <p:cNvSpPr txBox="1"/>
          <p:nvPr/>
        </p:nvSpPr>
        <p:spPr>
          <a:xfrm>
            <a:off x="9070340" y="4813300"/>
            <a:ext cx="11785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Progress Fisik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B42141-D727-DFE5-C3C0-2169A56B6A96}"/>
              </a:ext>
            </a:extLst>
          </p:cNvPr>
          <p:cNvCxnSpPr/>
          <p:nvPr/>
        </p:nvCxnSpPr>
        <p:spPr>
          <a:xfrm>
            <a:off x="5080000" y="736600"/>
            <a:ext cx="0" cy="5384800"/>
          </a:xfrm>
          <a:prstGeom prst="line">
            <a:avLst/>
          </a:prstGeom>
          <a:ln w="15240" cap="flat" cmpd="sng" algn="ctr">
            <a:solidFill>
              <a:srgbClr val="DED5C9">
                <a:alpha val="8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FA0761-8442-C285-6D6D-270D6F820DD1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3D799F-82F8-91BE-9C26-29B785E75C27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E60124-F256-2799-B9DC-ABA26F5A6410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2083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A8813D-599F-A62A-3A70-A89F2BE09C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FF62C4-97EF-1B35-A460-73FB8FF119BF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DED5C9">
              <a:alpha val="80000"/>
            </a:srgbClr>
          </a:solidFill>
          <a:ln w="12700" cap="flat" cmpd="sng" algn="ctr">
            <a:solidFill>
              <a:srgbClr val="DED5C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6DE131-F257-2072-4173-FD6E0910530F}"/>
              </a:ext>
            </a:extLst>
          </p:cNvPr>
          <p:cNvSpPr/>
          <p:nvPr/>
        </p:nvSpPr>
        <p:spPr>
          <a:xfrm>
            <a:off x="685800" y="4394200"/>
            <a:ext cx="4368800" cy="1346200"/>
          </a:xfrm>
          <a:prstGeom prst="roundRect">
            <a:avLst/>
          </a:prstGeom>
          <a:solidFill>
            <a:srgbClr val="F6F1EA">
              <a:alpha val="88000"/>
            </a:srgbClr>
          </a:solidFill>
          <a:ln w="12700" cap="flat" cmpd="sng" algn="ctr">
            <a:solidFill>
              <a:srgbClr val="DED5C9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C0EE33-03C7-D7C1-5CA2-62A0296133EF}"/>
              </a:ext>
            </a:extLst>
          </p:cNvPr>
          <p:cNvCxnSpPr/>
          <p:nvPr/>
        </p:nvCxnSpPr>
        <p:spPr>
          <a:xfrm>
            <a:off x="685800" y="736600"/>
            <a:ext cx="1117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6A93C32-DB6B-1AC4-D857-68A174603FB5}"/>
              </a:ext>
            </a:extLst>
          </p:cNvPr>
          <p:cNvSpPr txBox="1"/>
          <p:nvPr/>
        </p:nvSpPr>
        <p:spPr>
          <a:xfrm>
            <a:off x="6858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QUIZ ATAU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262CB-1EA8-2DC4-F142-EA9AE14D58C6}"/>
              </a:ext>
            </a:extLst>
          </p:cNvPr>
          <p:cNvSpPr txBox="1"/>
          <p:nvPr/>
        </p:nvSpPr>
        <p:spPr>
          <a:xfrm>
            <a:off x="685800" y="1625600"/>
            <a:ext cx="45720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C1D21"/>
                </a:solidFill>
                <a:latin typeface="Georgia" panose="02040502050405020303" pitchFamily="18" charset="0"/>
              </a:rPr>
              <a:t>Quiz membantu aplikasi membaca kondisi pengguna.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C638B-B40C-02AE-C155-6D199EDA91A3}"/>
              </a:ext>
            </a:extLst>
          </p:cNvPr>
          <p:cNvSpPr txBox="1"/>
          <p:nvPr/>
        </p:nvSpPr>
        <p:spPr>
          <a:xfrm>
            <a:off x="685800" y="3022600"/>
            <a:ext cx="419100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>
                <a:solidFill>
                  <a:srgbClr val="635C55"/>
                </a:solidFill>
                <a:latin typeface="Aptos" panose="020B0004020202020204" pitchFamily="34" charset="0"/>
              </a:rPr>
              <a:t>Selain aktivitas, pengguna juga bisa memberi input kondisi dan preferensi agar pengalaman terasa lebih personal.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4066D-6AD4-8B4B-7177-9F04094BB915}"/>
              </a:ext>
            </a:extLst>
          </p:cNvPr>
          <p:cNvSpPr txBox="1"/>
          <p:nvPr/>
        </p:nvSpPr>
        <p:spPr>
          <a:xfrm>
            <a:off x="685800" y="40894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B26F49"/>
                </a:solidFill>
                <a:latin typeface="Aptos" panose="020B0004020202020204" pitchFamily="34" charset="0"/>
              </a:rPr>
              <a:t>Contoh pertanyaan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2445B-4452-17B4-B5A8-D791CF442988}"/>
              </a:ext>
            </a:extLst>
          </p:cNvPr>
          <p:cNvSpPr txBox="1"/>
          <p:nvPr/>
        </p:nvSpPr>
        <p:spPr>
          <a:xfrm>
            <a:off x="939800" y="4673600"/>
            <a:ext cx="3632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fi-FI" sz="2000" b="1">
                <a:solidFill>
                  <a:srgbClr val="1C1D21"/>
                </a:solidFill>
                <a:latin typeface="Georgia" panose="02040502050405020303" pitchFamily="18" charset="0"/>
              </a:rPr>
              <a:t>Bagaimana kondisi energi kamu hari ini?</a:t>
            </a:r>
            <a:endParaRPr lang="en-US" sz="2000" b="1">
              <a:solidFill>
                <a:srgbClr val="1C1D21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7A08A-64A0-D272-DE56-66D27B46A366}"/>
              </a:ext>
            </a:extLst>
          </p:cNvPr>
          <p:cNvSpPr txBox="1"/>
          <p:nvPr/>
        </p:nvSpPr>
        <p:spPr>
          <a:xfrm>
            <a:off x="939800" y="54864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35C55"/>
                </a:solidFill>
                <a:latin typeface="Aptos" panose="020B0004020202020204" pitchFamily="34" charset="0"/>
              </a:rPr>
              <a:t>- Sangat baik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8C119-4E4F-9F68-B65F-14BFA7AE4B96}"/>
              </a:ext>
            </a:extLst>
          </p:cNvPr>
          <p:cNvSpPr txBox="1"/>
          <p:nvPr/>
        </p:nvSpPr>
        <p:spPr>
          <a:xfrm>
            <a:off x="939800" y="56896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35C55"/>
                </a:solidFill>
                <a:latin typeface="Aptos" panose="020B0004020202020204" pitchFamily="34" charset="0"/>
              </a:rPr>
              <a:t>- Cukup stabil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F74932-221A-2C14-0FB5-26CF8E2B95B8}"/>
              </a:ext>
            </a:extLst>
          </p:cNvPr>
          <p:cNvSpPr txBox="1"/>
          <p:nvPr/>
        </p:nvSpPr>
        <p:spPr>
          <a:xfrm>
            <a:off x="939800" y="58928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35C55"/>
                </a:solidFill>
                <a:latin typeface="Aptos" panose="020B0004020202020204" pitchFamily="34" charset="0"/>
              </a:rPr>
              <a:t>- Perlu istirahat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05BD3B-D0E8-F67A-CB4D-6A66E201BBE2}"/>
              </a:ext>
            </a:extLst>
          </p:cNvPr>
          <p:cNvSpPr txBox="1"/>
          <p:nvPr/>
        </p:nvSpPr>
        <p:spPr>
          <a:xfrm>
            <a:off x="3251200" y="5435600"/>
            <a:ext cx="1422400" cy="73096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635C55"/>
                </a:solidFill>
                <a:latin typeface="Aptos" panose="020B0004020202020204" pitchFamily="34" charset="0"/>
              </a:rPr>
              <a:t>Quiz membuat pengalaman lebih personal dan membantu aplikasi membaca kondisi pengguna.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91077D-1713-0027-D15C-D5713ABBE42A}"/>
              </a:ext>
            </a:extLst>
          </p:cNvPr>
          <p:cNvSpPr txBox="1"/>
          <p:nvPr/>
        </p:nvSpPr>
        <p:spPr>
          <a:xfrm>
            <a:off x="7112000" y="1041400"/>
            <a:ext cx="152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B26F49"/>
                </a:solidFill>
                <a:latin typeface="Aptos" panose="020B0004020202020204" pitchFamily="34" charset="0"/>
              </a:rPr>
              <a:t>Survey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738126-8116-A279-E029-597D0BA8DD5D}"/>
              </a:ext>
            </a:extLst>
          </p:cNvPr>
          <p:cNvSpPr/>
          <p:nvPr/>
        </p:nvSpPr>
        <p:spPr>
          <a:xfrm>
            <a:off x="7289800" y="1676400"/>
            <a:ext cx="2565400" cy="42418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6DF9B0-58E6-A414-913F-05376C3F720C}"/>
              </a:ext>
            </a:extLst>
          </p:cNvPr>
          <p:cNvSpPr/>
          <p:nvPr/>
        </p:nvSpPr>
        <p:spPr>
          <a:xfrm>
            <a:off x="6959600" y="1320800"/>
            <a:ext cx="2870200" cy="4546600"/>
          </a:xfrm>
          <a:prstGeom prst="roundRect">
            <a:avLst/>
          </a:prstGeom>
          <a:solidFill>
            <a:srgbClr val="FAF8F4">
              <a:alpha val="96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32478F-8C1D-B7D9-2916-D4120CB39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708" y="1339977"/>
            <a:ext cx="2079985" cy="4508246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1C4437-4C49-2D19-EBE0-DA2481C31E18}"/>
              </a:ext>
            </a:extLst>
          </p:cNvPr>
          <p:cNvSpPr/>
          <p:nvPr/>
        </p:nvSpPr>
        <p:spPr>
          <a:xfrm>
            <a:off x="10134600" y="1752600"/>
            <a:ext cx="1295400" cy="1676400"/>
          </a:xfrm>
          <a:prstGeom prst="roundRect">
            <a:avLst/>
          </a:prstGeom>
          <a:solidFill>
            <a:srgbClr val="1C1D21">
              <a:alpha val="94000"/>
            </a:srgbClr>
          </a:solidFill>
          <a:ln w="10160" cap="flat" cmpd="sng" algn="ctr">
            <a:solidFill>
              <a:srgbClr val="1C1D21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007FB1-BC9D-CE48-9A1C-B014C6C0373D}"/>
              </a:ext>
            </a:extLst>
          </p:cNvPr>
          <p:cNvSpPr txBox="1"/>
          <p:nvPr/>
        </p:nvSpPr>
        <p:spPr>
          <a:xfrm>
            <a:off x="10312400" y="1981200"/>
            <a:ext cx="939800" cy="11310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Input sederhana membantu membaca kondisi pengguna, bukan hanya aktivitasnya.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834A2A-5DF8-E36B-5C07-0BA6BBA17062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326028-659E-E7C3-C4DE-0DE3C7DAF80D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9DDD73-1611-61D1-C0FA-6274D7D1772A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9028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E96A0A-0C5C-6508-816B-0635A7CAEF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D21"/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1DD57-1DC7-13DE-442B-BCABB102DB99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282B31">
              <a:alpha val="96000"/>
            </a:srgbClr>
          </a:solidFill>
          <a:ln w="12700" cap="flat" cmpd="sng" algn="ctr">
            <a:solidFill>
              <a:srgbClr val="282B3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263FD5-E5DB-F649-50C7-E18D07AAD0E4}"/>
              </a:ext>
            </a:extLst>
          </p:cNvPr>
          <p:cNvSpPr/>
          <p:nvPr/>
        </p:nvSpPr>
        <p:spPr>
          <a:xfrm>
            <a:off x="8712200" y="0"/>
            <a:ext cx="3479800" cy="6858000"/>
          </a:xfrm>
          <a:prstGeom prst="rect">
            <a:avLst/>
          </a:prstGeom>
          <a:solidFill>
            <a:srgbClr val="B26F49">
              <a:alpha val="96000"/>
            </a:srgbClr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BF19D-9F98-23DE-6F7F-83120D115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188" y="4194828"/>
            <a:ext cx="1016423" cy="6781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839C42-18A7-7DC3-B151-E34E131D97DD}"/>
              </a:ext>
            </a:extLst>
          </p:cNvPr>
          <p:cNvSpPr/>
          <p:nvPr/>
        </p:nvSpPr>
        <p:spPr>
          <a:xfrm>
            <a:off x="9067800" y="3632200"/>
            <a:ext cx="2489200" cy="1803400"/>
          </a:xfrm>
          <a:prstGeom prst="rect">
            <a:avLst/>
          </a:prstGeom>
          <a:solidFill>
            <a:srgbClr val="1C1D21">
              <a:alpha val="62000"/>
            </a:srgbClr>
          </a:solidFill>
          <a:ln w="10160" cap="flat" cmpd="sng" algn="ctr">
            <a:solidFill>
              <a:srgbClr val="FAF8F4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068185-1C6D-25BC-5BDC-CA3F9CA7C954}"/>
              </a:ext>
            </a:extLst>
          </p:cNvPr>
          <p:cNvCxnSpPr/>
          <p:nvPr/>
        </p:nvCxnSpPr>
        <p:spPr>
          <a:xfrm>
            <a:off x="685800" y="736600"/>
            <a:ext cx="1498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8026FB6-A378-5171-6B82-8E540BF10D6B}"/>
              </a:ext>
            </a:extLst>
          </p:cNvPr>
          <p:cNvSpPr txBox="1"/>
          <p:nvPr/>
        </p:nvSpPr>
        <p:spPr>
          <a:xfrm>
            <a:off x="6858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POINT DAN LEADERBOARD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3C312-F9A0-2915-566A-57431E39CE5A}"/>
              </a:ext>
            </a:extLst>
          </p:cNvPr>
          <p:cNvSpPr txBox="1"/>
          <p:nvPr/>
        </p:nvSpPr>
        <p:spPr>
          <a:xfrm>
            <a:off x="685800" y="1651000"/>
            <a:ext cx="3048000" cy="18466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400" b="1">
                <a:solidFill>
                  <a:srgbClr val="FAF8F4"/>
                </a:solidFill>
                <a:latin typeface="Georgia" panose="02040502050405020303" pitchFamily="18" charset="0"/>
              </a:rPr>
              <a:t>Point memberi progres. Leaderboard memberi dorongan.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40D5F-CB12-C3E2-D149-B80796D24D77}"/>
              </a:ext>
            </a:extLst>
          </p:cNvPr>
          <p:cNvSpPr txBox="1"/>
          <p:nvPr/>
        </p:nvSpPr>
        <p:spPr>
          <a:xfrm>
            <a:off x="685800" y="3581400"/>
            <a:ext cx="2921000" cy="8617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00">
                <a:solidFill>
                  <a:srgbClr val="D6D0C7"/>
                </a:solidFill>
                <a:latin typeface="Aptos" panose="020B0004020202020204" pitchFamily="34" charset="0"/>
              </a:rPr>
              <a:t>Pengguna dapat melihat hasil aktivitasnya dengan cepat, lalu terdorong untuk tetap aktif lewat kompetisi yang sehat.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0DF57A-9970-DB54-4936-83CCB453D295}"/>
              </a:ext>
            </a:extLst>
          </p:cNvPr>
          <p:cNvSpPr/>
          <p:nvPr/>
        </p:nvSpPr>
        <p:spPr>
          <a:xfrm>
            <a:off x="685800" y="47244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CFC6FF-CD03-8510-6D88-554ED3F96C2C}"/>
              </a:ext>
            </a:extLst>
          </p:cNvPr>
          <p:cNvSpPr txBox="1"/>
          <p:nvPr/>
        </p:nvSpPr>
        <p:spPr>
          <a:xfrm>
            <a:off x="914400" y="4648200"/>
            <a:ext cx="2794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FAF8F4"/>
                </a:solidFill>
                <a:latin typeface="Aptos" panose="020B0004020202020204" pitchFamily="34" charset="0"/>
              </a:rPr>
              <a:t>Point berasal dari aktivitas dan partisipasi.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9BA913-44CE-D41B-73C0-9D1664603E6D}"/>
              </a:ext>
            </a:extLst>
          </p:cNvPr>
          <p:cNvSpPr/>
          <p:nvPr/>
        </p:nvSpPr>
        <p:spPr>
          <a:xfrm>
            <a:off x="685800" y="51562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AA5DF1-3F42-9D99-5309-ABAFC84F3FA1}"/>
              </a:ext>
            </a:extLst>
          </p:cNvPr>
          <p:cNvSpPr txBox="1"/>
          <p:nvPr/>
        </p:nvSpPr>
        <p:spPr>
          <a:xfrm>
            <a:off x="914400" y="5080000"/>
            <a:ext cx="27940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FAF8F4"/>
                </a:solidFill>
                <a:latin typeface="Aptos" panose="020B0004020202020204" pitchFamily="34" charset="0"/>
              </a:rPr>
              <a:t>Progress terasa cepat dipahami.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195ABE-95F2-E900-3879-D52BEF00B1FD}"/>
              </a:ext>
            </a:extLst>
          </p:cNvPr>
          <p:cNvSpPr/>
          <p:nvPr/>
        </p:nvSpPr>
        <p:spPr>
          <a:xfrm>
            <a:off x="685800" y="55880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503AA-1230-A5D2-241B-588F591BAA15}"/>
              </a:ext>
            </a:extLst>
          </p:cNvPr>
          <p:cNvSpPr txBox="1"/>
          <p:nvPr/>
        </p:nvSpPr>
        <p:spPr>
          <a:xfrm>
            <a:off x="914400" y="5511800"/>
            <a:ext cx="2794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FAF8F4"/>
                </a:solidFill>
                <a:latin typeface="Aptos" panose="020B0004020202020204" pitchFamily="34" charset="0"/>
              </a:rPr>
              <a:t>Leaderboard membuat pengalaman lebih hidup.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317D76-F8A8-1C97-87A3-1D094C75E23A}"/>
              </a:ext>
            </a:extLst>
          </p:cNvPr>
          <p:cNvSpPr txBox="1"/>
          <p:nvPr/>
        </p:nvSpPr>
        <p:spPr>
          <a:xfrm>
            <a:off x="4292600" y="914400"/>
            <a:ext cx="165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D6D0C7"/>
                </a:solidFill>
                <a:latin typeface="Aptos" panose="020B0004020202020204" pitchFamily="34" charset="0"/>
              </a:rPr>
              <a:t>Leaderboard 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A0CF9-2A5C-2A70-62D5-F53DFED7A9F5}"/>
              </a:ext>
            </a:extLst>
          </p:cNvPr>
          <p:cNvSpPr/>
          <p:nvPr/>
        </p:nvSpPr>
        <p:spPr>
          <a:xfrm>
            <a:off x="4470400" y="1549400"/>
            <a:ext cx="4013200" cy="30226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0F7774-CE57-7042-BE4D-2F1D461B5001}"/>
              </a:ext>
            </a:extLst>
          </p:cNvPr>
          <p:cNvSpPr/>
          <p:nvPr/>
        </p:nvSpPr>
        <p:spPr>
          <a:xfrm>
            <a:off x="4140200" y="1193800"/>
            <a:ext cx="4318000" cy="3327400"/>
          </a:xfrm>
          <a:prstGeom prst="roundRect">
            <a:avLst/>
          </a:prstGeom>
          <a:solidFill>
            <a:srgbClr val="3D3F46">
              <a:alpha val="92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781517-2A39-6A77-0497-85F763219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305" y="1044933"/>
            <a:ext cx="2917790" cy="3625134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2EBCDF5-6648-AA1F-83F3-AE37026839FC}"/>
              </a:ext>
            </a:extLst>
          </p:cNvPr>
          <p:cNvSpPr/>
          <p:nvPr/>
        </p:nvSpPr>
        <p:spPr>
          <a:xfrm>
            <a:off x="4292600" y="4749800"/>
            <a:ext cx="1295400" cy="736600"/>
          </a:xfrm>
          <a:prstGeom prst="roundRect">
            <a:avLst/>
          </a:prstGeom>
          <a:solidFill>
            <a:srgbClr val="D6AB8E">
              <a:alpha val="22000"/>
            </a:srgbClr>
          </a:solidFill>
          <a:ln w="12700" cap="flat" cmpd="sng" algn="ctr">
            <a:solidFill>
              <a:srgbClr val="D6AB8E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8BBE87-3FEE-3225-E0DF-60B5B11B1913}"/>
              </a:ext>
            </a:extLst>
          </p:cNvPr>
          <p:cNvSpPr txBox="1"/>
          <p:nvPr/>
        </p:nvSpPr>
        <p:spPr>
          <a:xfrm>
            <a:off x="4445000" y="4876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 b="1">
                <a:solidFill>
                  <a:srgbClr val="D6D0C7"/>
                </a:solidFill>
                <a:latin typeface="Aptos" panose="020B0004020202020204" pitchFamily="34" charset="0"/>
              </a:rPr>
              <a:t>AKTIVITAS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FF0B89-8AB2-4E2E-FB9C-4CDB807FFE6F}"/>
              </a:ext>
            </a:extLst>
          </p:cNvPr>
          <p:cNvSpPr txBox="1"/>
          <p:nvPr/>
        </p:nvSpPr>
        <p:spPr>
          <a:xfrm>
            <a:off x="4445000" y="50546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+120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DD5505-F5DA-6619-05D6-12A218D6A3A9}"/>
              </a:ext>
            </a:extLst>
          </p:cNvPr>
          <p:cNvSpPr/>
          <p:nvPr/>
        </p:nvSpPr>
        <p:spPr>
          <a:xfrm>
            <a:off x="5715000" y="4749800"/>
            <a:ext cx="1295400" cy="736600"/>
          </a:xfrm>
          <a:prstGeom prst="roundRect">
            <a:avLst/>
          </a:prstGeom>
          <a:solidFill>
            <a:srgbClr val="D6AB8E">
              <a:alpha val="22000"/>
            </a:srgbClr>
          </a:solidFill>
          <a:ln w="12700" cap="flat" cmpd="sng" algn="ctr">
            <a:solidFill>
              <a:srgbClr val="D6AB8E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0B6469-2FD5-A3B9-1A5C-4B5201E22F53}"/>
              </a:ext>
            </a:extLst>
          </p:cNvPr>
          <p:cNvSpPr txBox="1"/>
          <p:nvPr/>
        </p:nvSpPr>
        <p:spPr>
          <a:xfrm>
            <a:off x="5867400" y="4876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 b="1">
                <a:solidFill>
                  <a:srgbClr val="D6D0C7"/>
                </a:solidFill>
                <a:latin typeface="Aptos" panose="020B0004020202020204" pitchFamily="34" charset="0"/>
              </a:rPr>
              <a:t>QUIZ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5E9F5-DC2C-B357-BDD6-F177C5402BAF}"/>
              </a:ext>
            </a:extLst>
          </p:cNvPr>
          <p:cNvSpPr txBox="1"/>
          <p:nvPr/>
        </p:nvSpPr>
        <p:spPr>
          <a:xfrm>
            <a:off x="5867400" y="50546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+80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3D923C5-73E2-0866-2659-D6D2DF8F5486}"/>
              </a:ext>
            </a:extLst>
          </p:cNvPr>
          <p:cNvSpPr/>
          <p:nvPr/>
        </p:nvSpPr>
        <p:spPr>
          <a:xfrm>
            <a:off x="7137400" y="4749800"/>
            <a:ext cx="1498600" cy="736600"/>
          </a:xfrm>
          <a:prstGeom prst="roundRect">
            <a:avLst/>
          </a:prstGeom>
          <a:solidFill>
            <a:srgbClr val="D6AB8E">
              <a:alpha val="22000"/>
            </a:srgbClr>
          </a:solidFill>
          <a:ln w="12700" cap="flat" cmpd="sng" algn="ctr">
            <a:solidFill>
              <a:srgbClr val="D6AB8E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16CA50-963D-CD65-61D8-9889AD796605}"/>
              </a:ext>
            </a:extLst>
          </p:cNvPr>
          <p:cNvSpPr txBox="1"/>
          <p:nvPr/>
        </p:nvSpPr>
        <p:spPr>
          <a:xfrm>
            <a:off x="7289800" y="4876800"/>
            <a:ext cx="11938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 b="1">
                <a:solidFill>
                  <a:srgbClr val="D6D0C7"/>
                </a:solidFill>
                <a:latin typeface="Aptos" panose="020B0004020202020204" pitchFamily="34" charset="0"/>
              </a:rPr>
              <a:t>TOTAL POINT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F572C2-1823-C2BA-4549-1C732607E8C7}"/>
              </a:ext>
            </a:extLst>
          </p:cNvPr>
          <p:cNvSpPr txBox="1"/>
          <p:nvPr/>
        </p:nvSpPr>
        <p:spPr>
          <a:xfrm>
            <a:off x="7289800" y="50546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1.240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63F681-EB6E-4429-DB6F-11DD04CF7F6C}"/>
              </a:ext>
            </a:extLst>
          </p:cNvPr>
          <p:cNvSpPr txBox="1"/>
          <p:nvPr/>
        </p:nvSpPr>
        <p:spPr>
          <a:xfrm>
            <a:off x="9067800" y="1397000"/>
            <a:ext cx="220980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b="1">
                <a:solidFill>
                  <a:srgbClr val="FAF8F4"/>
                </a:solidFill>
                <a:latin typeface="Georgia" panose="02040502050405020303" pitchFamily="18" charset="0"/>
              </a:rPr>
              <a:t>Kompetisi sehat membuat progress lebih terasa hidup.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4EC9E0-3DB1-FD5D-E128-363866951316}"/>
              </a:ext>
            </a:extLst>
          </p:cNvPr>
          <p:cNvSpPr txBox="1"/>
          <p:nvPr/>
        </p:nvSpPr>
        <p:spPr>
          <a:xfrm>
            <a:off x="9067800" y="24892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FAF8F4"/>
                </a:solidFill>
                <a:latin typeface="Aptos" panose="020B0004020202020204" pitchFamily="34" charset="0"/>
              </a:rPr>
              <a:t>Point menjadi bukti. Leaderboard menjadi dorongan sosial.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A7837F-AE65-0E06-CF11-4118372B64CD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6F7378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AB9F42-A845-369F-2B4C-BA8A9CA06A73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45DE76-585A-2474-753B-CF7D4F649C80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127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3A412D-32F5-2222-C218-0BD27B6D0F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A"/>
          </a:solidFill>
          <a:ln w="12700" cap="flat" cmpd="sng" algn="ctr">
            <a:solidFill>
              <a:srgbClr val="F6F1E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F948E-476C-3175-BFE0-C20CB371231E}"/>
              </a:ext>
            </a:extLst>
          </p:cNvPr>
          <p:cNvSpPr/>
          <p:nvPr/>
        </p:nvSpPr>
        <p:spPr>
          <a:xfrm>
            <a:off x="0" y="4038600"/>
            <a:ext cx="12192000" cy="28194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B7D7A9-12E9-F885-592E-2650409A3E7A}"/>
              </a:ext>
            </a:extLst>
          </p:cNvPr>
          <p:cNvCxnSpPr/>
          <p:nvPr/>
        </p:nvCxnSpPr>
        <p:spPr>
          <a:xfrm>
            <a:off x="736600" y="4826000"/>
            <a:ext cx="3556000" cy="0"/>
          </a:xfrm>
          <a:prstGeom prst="line">
            <a:avLst/>
          </a:prstGeom>
          <a:ln w="26670" cap="flat" cmpd="sng" algn="ctr">
            <a:solidFill>
              <a:srgbClr val="B26F49">
                <a:alpha val="9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1DD9246-5907-300D-438A-61478F3880C3}"/>
              </a:ext>
            </a:extLst>
          </p:cNvPr>
          <p:cNvSpPr txBox="1"/>
          <p:nvPr/>
        </p:nvSpPr>
        <p:spPr>
          <a:xfrm>
            <a:off x="736600" y="4978400"/>
            <a:ext cx="2413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000" b="1">
                <a:solidFill>
                  <a:srgbClr val="B26F49"/>
                </a:solidFill>
                <a:latin typeface="Aptos" panose="020B0004020202020204" pitchFamily="34" charset="0"/>
              </a:rPr>
              <a:t>Pitch deck pengguna dan tim</a:t>
            </a:r>
            <a:endParaRPr lang="en-US" sz="1000" b="1">
              <a:solidFill>
                <a:srgbClr val="B26F49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63D5E-96B6-F39A-2DF5-A7F04D05ECE1}"/>
              </a:ext>
            </a:extLst>
          </p:cNvPr>
          <p:cNvSpPr txBox="1"/>
          <p:nvPr/>
        </p:nvSpPr>
        <p:spPr>
          <a:xfrm>
            <a:off x="736600" y="52578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nn-NO" sz="1100">
                <a:solidFill>
                  <a:srgbClr val="635C55"/>
                </a:solidFill>
                <a:latin typeface="Aptos" panose="020B0004020202020204" pitchFamily="34" charset="0"/>
              </a:rPr>
              <a:t>Ringkas, visual, dan mudah dipresentasikan.</a:t>
            </a:r>
            <a:endParaRPr lang="en-US" sz="1100">
              <a:solidFill>
                <a:srgbClr val="635C55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446E24-F2BB-48D8-A328-59F7D2CC24ED}"/>
              </a:ext>
            </a:extLst>
          </p:cNvPr>
          <p:cNvCxnSpPr/>
          <p:nvPr/>
        </p:nvCxnSpPr>
        <p:spPr>
          <a:xfrm>
            <a:off x="736600" y="736600"/>
            <a:ext cx="10922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1285B0-F9E1-4EA3-F084-ADFF31855B4F}"/>
              </a:ext>
            </a:extLst>
          </p:cNvPr>
          <p:cNvSpPr txBox="1"/>
          <p:nvPr/>
        </p:nvSpPr>
        <p:spPr>
          <a:xfrm>
            <a:off x="7366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PENUTUP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205F4-9FD3-E365-6EDC-0F40A01CF039}"/>
              </a:ext>
            </a:extLst>
          </p:cNvPr>
          <p:cNvSpPr txBox="1"/>
          <p:nvPr/>
        </p:nvSpPr>
        <p:spPr>
          <a:xfrm>
            <a:off x="736600" y="1676400"/>
            <a:ext cx="68580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200" b="1">
                <a:solidFill>
                  <a:srgbClr val="1C1D21"/>
                </a:solidFill>
                <a:latin typeface="Georgia" panose="02040502050405020303" pitchFamily="18" charset="0"/>
              </a:rPr>
              <a:t>Welbeing membuat wellbeing terasa nyata, personal, dan terus bergerak.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88FFCC-736C-C7D7-DC93-D8F524B5D05D}"/>
              </a:ext>
            </a:extLst>
          </p:cNvPr>
          <p:cNvSpPr txBox="1"/>
          <p:nvPr/>
        </p:nvSpPr>
        <p:spPr>
          <a:xfrm>
            <a:off x="736600" y="3124200"/>
            <a:ext cx="59690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50">
                <a:solidFill>
                  <a:srgbClr val="635C55"/>
                </a:solidFill>
                <a:latin typeface="Aptos" panose="020B0004020202020204" pitchFamily="34" charset="0"/>
              </a:rPr>
              <a:t>Dengan dashboard, Strava, quiz, point, dan leaderboard, kebiasaan sehat terasa lebih jelas untuk dijalani setiap hari.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EA07A6-7CAB-F9A1-6272-4E2C3C205D9F}"/>
              </a:ext>
            </a:extLst>
          </p:cNvPr>
          <p:cNvCxnSpPr/>
          <p:nvPr/>
        </p:nvCxnSpPr>
        <p:spPr>
          <a:xfrm>
            <a:off x="8178800" y="1892300"/>
            <a:ext cx="254000" cy="0"/>
          </a:xfrm>
          <a:prstGeom prst="line">
            <a:avLst/>
          </a:prstGeom>
          <a:ln w="2794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4805B9-1147-8932-FD35-486E50FB930E}"/>
              </a:ext>
            </a:extLst>
          </p:cNvPr>
          <p:cNvSpPr txBox="1"/>
          <p:nvPr/>
        </p:nvSpPr>
        <p:spPr>
          <a:xfrm>
            <a:off x="8585200" y="1752600"/>
            <a:ext cx="2540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250" b="1">
                <a:solidFill>
                  <a:srgbClr val="1C1D21"/>
                </a:solidFill>
                <a:latin typeface="Aptos" panose="020B0004020202020204" pitchFamily="34" charset="0"/>
              </a:rPr>
              <a:t>Lebih terukur karena progress terlihat jelas.</a:t>
            </a:r>
            <a:endParaRPr lang="en-US" sz="1250" b="1">
              <a:solidFill>
                <a:srgbClr val="1C1D21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79EDD0-0E46-21F2-61C4-454D8B6F1195}"/>
              </a:ext>
            </a:extLst>
          </p:cNvPr>
          <p:cNvCxnSpPr/>
          <p:nvPr/>
        </p:nvCxnSpPr>
        <p:spPr>
          <a:xfrm>
            <a:off x="8178800" y="2578100"/>
            <a:ext cx="254000" cy="0"/>
          </a:xfrm>
          <a:prstGeom prst="line">
            <a:avLst/>
          </a:prstGeom>
          <a:ln w="2794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2DD80D-0D1C-7A41-EDAD-8084201506AB}"/>
              </a:ext>
            </a:extLst>
          </p:cNvPr>
          <p:cNvSpPr txBox="1"/>
          <p:nvPr/>
        </p:nvSpPr>
        <p:spPr>
          <a:xfrm>
            <a:off x="8585200" y="2438400"/>
            <a:ext cx="2540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 b="1">
                <a:solidFill>
                  <a:srgbClr val="1C1D21"/>
                </a:solidFill>
                <a:latin typeface="Aptos" panose="020B0004020202020204" pitchFamily="34" charset="0"/>
              </a:rPr>
              <a:t>Lebih personal karena ada input dari quiz.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D24613-1BEC-1639-91BE-584CA04BE6AF}"/>
              </a:ext>
            </a:extLst>
          </p:cNvPr>
          <p:cNvCxnSpPr/>
          <p:nvPr/>
        </p:nvCxnSpPr>
        <p:spPr>
          <a:xfrm>
            <a:off x="8178800" y="3263900"/>
            <a:ext cx="254000" cy="0"/>
          </a:xfrm>
          <a:prstGeom prst="line">
            <a:avLst/>
          </a:prstGeom>
          <a:ln w="2794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AFA9606-9011-4AF8-8130-32AA23F93782}"/>
              </a:ext>
            </a:extLst>
          </p:cNvPr>
          <p:cNvSpPr txBox="1"/>
          <p:nvPr/>
        </p:nvSpPr>
        <p:spPr>
          <a:xfrm>
            <a:off x="8585200" y="3124200"/>
            <a:ext cx="2540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250" b="1">
                <a:solidFill>
                  <a:srgbClr val="1C1D21"/>
                </a:solidFill>
                <a:latin typeface="Aptos" panose="020B0004020202020204" pitchFamily="34" charset="0"/>
              </a:rPr>
              <a:t>Lebih memotivasi karena ada point dan leaderboard.</a:t>
            </a:r>
            <a:endParaRPr lang="en-US" sz="1250" b="1">
              <a:solidFill>
                <a:srgbClr val="1C1D2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89DA3B-8D05-23CC-EA70-B1D6108C4A5A}"/>
              </a:ext>
            </a:extLst>
          </p:cNvPr>
          <p:cNvSpPr txBox="1"/>
          <p:nvPr/>
        </p:nvSpPr>
        <p:spPr>
          <a:xfrm>
            <a:off x="736600" y="6019800"/>
            <a:ext cx="736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B26F49"/>
                </a:solidFill>
                <a:latin typeface="Aptos" panose="020B0004020202020204" pitchFamily="34" charset="0"/>
              </a:rPr>
              <a:t>SIAP DIPRESENTASIKAN SEBAGAI PENGALAMAN WELLBEING YANG MODERN, AKTIF, DAN ENGAGING.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262DD5-ABFF-5034-1135-A6C663B6E6CD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37A177-0EA7-5278-D488-4D1F1CF071B6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C9C8A-E7AC-F429-ED71-53D97DBBBAE9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900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Office PowerPoint</Application>
  <PresentationFormat>Custom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Pramuji WG</dc:creator>
  <cp:lastModifiedBy>Pramuji WG</cp:lastModifiedBy>
  <cp:revision>1</cp:revision>
  <dcterms:created xsi:type="dcterms:W3CDTF">2026-04-08T03:18:52Z</dcterms:created>
  <dcterms:modified xsi:type="dcterms:W3CDTF">2026-04-08T03:18:52Z</dcterms:modified>
</cp:coreProperties>
</file>